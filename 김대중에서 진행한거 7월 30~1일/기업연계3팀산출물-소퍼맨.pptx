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1" r:id="rId2"/>
    <p:sldId id="262" r:id="rId3"/>
    <p:sldId id="266" r:id="rId4"/>
    <p:sldId id="267" r:id="rId5"/>
    <p:sldId id="265" r:id="rId6"/>
    <p:sldId id="268" r:id="rId7"/>
    <p:sldId id="269" r:id="rId8"/>
    <p:sldId id="270" r:id="rId9"/>
    <p:sldId id="27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390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7c7891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g3f97c7891c5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54;g3f97c7891c5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B5523272-2912-7F94-5737-329D937E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7c7891c5_0_0:notes">
            <a:extLst>
              <a:ext uri="{FF2B5EF4-FFF2-40B4-BE49-F238E27FC236}">
                <a16:creationId xmlns:a16="http://schemas.microsoft.com/office/drawing/2014/main" id="{48BEC1A4-BF1F-C639-91BB-F22F7D8710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g3f97c7891c5_0_0:notes">
            <a:extLst>
              <a:ext uri="{FF2B5EF4-FFF2-40B4-BE49-F238E27FC236}">
                <a16:creationId xmlns:a16="http://schemas.microsoft.com/office/drawing/2014/main" id="{5E3DE616-631B-7EFB-2858-AC68095812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54;g3f97c7891c5_0_0:notes">
            <a:extLst>
              <a:ext uri="{FF2B5EF4-FFF2-40B4-BE49-F238E27FC236}">
                <a16:creationId xmlns:a16="http://schemas.microsoft.com/office/drawing/2014/main" id="{B411C9FF-95FB-0120-3073-E6B7868AA2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72524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FED75-F96C-1490-60AF-AC19A18E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CBFF52-CDA1-6D45-3E21-46E357419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9756E-7267-0A26-D517-3B0AA9610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0D540-625E-77DA-2DDF-0CACBC9D2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9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494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소개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5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팀 소개 자료(팀 정체성·R&amp;R·그라운드 룰)의 핵심 내용을 한 페이지로 요약하세요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104120" y="384048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E078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104120" y="384048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작성용 양식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4617720" cy="1737360"/>
          </a:xfrm>
          <a:prstGeom prst="roundRect">
            <a:avLst>
              <a:gd name="adj" fmla="val 5263"/>
            </a:avLst>
          </a:prstGeom>
          <a:solidFill>
            <a:srgbClr val="1B2A57"/>
          </a:solidFill>
          <a:ln/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" y="152704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SOAP-er Man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95528" y="20299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“대화는 사람이, 기록은 소퍼맨이!”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" y="245059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95528" y="24505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 AI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67128" y="245059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167128" y="24505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50" b="1" dirty="0" err="1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</a:rPr>
              <a:t>음성인식·STT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38728" y="245059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538728" y="24505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SOAP 자동화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0" y="1325880"/>
            <a:ext cx="6385255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577840" y="1453896"/>
            <a:ext cx="5836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비전 &amp; 목표  </a:t>
            </a:r>
            <a:r>
              <a:rPr lang="en-US" sz="9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&amp; GOALS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577840" y="18105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비전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0" y="1810512"/>
            <a:ext cx="4739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의사와 환자의 진료대화 핵심 내용을 요약해 의료진의 업무 효율성을 향상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194560"/>
            <a:ext cx="5836615" cy="0"/>
          </a:xfrm>
          <a:prstGeom prst="line">
            <a:avLst/>
          </a:prstGeom>
          <a:noFill/>
          <a:ln w="635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577840" y="21945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 목표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2194560"/>
            <a:ext cx="4556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전원 역량 강화 및 포트폴리오 확보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2578608"/>
            <a:ext cx="5836615" cy="0"/>
          </a:xfrm>
          <a:prstGeom prst="line">
            <a:avLst/>
          </a:prstGeom>
          <a:noFill/>
          <a:ln w="635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77840" y="2578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목표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0" y="2578608"/>
            <a:ext cx="4556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텍스트 변환(STT) 100% 구현 및 SOAP 요약 성능 향상</a:t>
            </a:r>
            <a:endParaRPr lang="en-US" sz="1000" dirty="0"/>
          </a:p>
        </p:txBody>
      </p:sp>
      <p:sp>
        <p:nvSpPr>
          <p:cNvPr id="26" name="Shape 2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920" y="3246120"/>
            <a:ext cx="11185855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77240" y="33741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&amp; 핵심 강점  </a:t>
            </a:r>
            <a:r>
              <a:rPr lang="en-US" sz="9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 &amp; STRENGTHS</a:t>
            </a:r>
            <a:endParaRPr lang="en-US" sz="125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AB9941F6-23C9-452A-277B-B304C137AF7D}"/>
              </a:ext>
            </a:extLst>
          </p:cNvPr>
          <p:cNvGrpSpPr/>
          <p:nvPr/>
        </p:nvGrpSpPr>
        <p:grpSpPr>
          <a:xfrm>
            <a:off x="992560" y="3730752"/>
            <a:ext cx="1680972" cy="987552"/>
            <a:chOff x="822960" y="3730752"/>
            <a:chExt cx="1680972" cy="987552"/>
          </a:xfrm>
        </p:grpSpPr>
        <p:sp>
          <p:nvSpPr>
            <p:cNvPr id="28" name="Text 26"/>
            <p:cNvSpPr/>
            <p:nvPr/>
          </p:nvSpPr>
          <p:spPr>
            <a:xfrm>
              <a:off x="822960" y="3730752"/>
              <a:ext cx="16809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000" b="1" dirty="0">
                  <a:solidFill>
                    <a:srgbClr val="2EC4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PM</a:t>
              </a:r>
            </a:p>
          </p:txBody>
        </p:sp>
        <p:sp>
          <p:nvSpPr>
            <p:cNvPr id="29" name="Text 27"/>
            <p:cNvSpPr/>
            <p:nvPr/>
          </p:nvSpPr>
          <p:spPr>
            <a:xfrm>
              <a:off x="822960" y="3950208"/>
              <a:ext cx="16809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9AA6B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조요한</a:t>
              </a:r>
            </a:p>
          </p:txBody>
        </p:sp>
        <p:sp>
          <p:nvSpPr>
            <p:cNvPr id="30" name="Text 28"/>
            <p:cNvSpPr/>
            <p:nvPr/>
          </p:nvSpPr>
          <p:spPr>
            <a:xfrm>
              <a:off x="868680" y="4242816"/>
              <a:ext cx="1589532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10000"/>
                </a:lnSpc>
              </a:pPr>
              <a:r>
                <a:rPr lang="ko-KR" altLang="en-US" sz="900" dirty="0">
                  <a:solidFill>
                    <a:srgbClr val="9AA6B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프로젝트 총괄 및 일정 관리</a:t>
              </a:r>
              <a:endParaRPr lang="en-US" sz="900" dirty="0"/>
            </a:p>
          </p:txBody>
        </p:sp>
      </p:grpSp>
      <p:sp>
        <p:nvSpPr>
          <p:cNvPr id="31" name="Shape 29"/>
          <p:cNvSpPr/>
          <p:nvPr/>
        </p:nvSpPr>
        <p:spPr>
          <a:xfrm>
            <a:off x="3258069" y="3749040"/>
            <a:ext cx="0" cy="914400"/>
          </a:xfrm>
          <a:prstGeom prst="line">
            <a:avLst/>
          </a:prstGeom>
          <a:noFill/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ADB45BF6-82E9-93EE-6450-84288C9FF14A}"/>
              </a:ext>
            </a:extLst>
          </p:cNvPr>
          <p:cNvGrpSpPr/>
          <p:nvPr/>
        </p:nvGrpSpPr>
        <p:grpSpPr>
          <a:xfrm>
            <a:off x="3808476" y="3730752"/>
            <a:ext cx="1680972" cy="987552"/>
            <a:chOff x="2595372" y="3730752"/>
            <a:chExt cx="1680972" cy="987552"/>
          </a:xfrm>
        </p:grpSpPr>
        <p:sp>
          <p:nvSpPr>
            <p:cNvPr id="32" name="Text 30"/>
            <p:cNvSpPr/>
            <p:nvPr/>
          </p:nvSpPr>
          <p:spPr>
            <a:xfrm>
              <a:off x="2595372" y="3730752"/>
              <a:ext cx="16809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rgbClr val="2EC4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Frontend</a:t>
              </a:r>
            </a:p>
          </p:txBody>
        </p:sp>
        <p:sp>
          <p:nvSpPr>
            <p:cNvPr id="33" name="Text 31"/>
            <p:cNvSpPr/>
            <p:nvPr/>
          </p:nvSpPr>
          <p:spPr>
            <a:xfrm>
              <a:off x="2595372" y="3950208"/>
              <a:ext cx="16809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200" b="1" dirty="0">
                  <a:solidFill>
                    <a:srgbClr val="9AA6B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김민주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2641092" y="4242816"/>
              <a:ext cx="1589532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10000"/>
                </a:lnSpc>
              </a:pPr>
              <a:r>
                <a:rPr lang="ko-KR" altLang="en-US" sz="900" dirty="0">
                  <a:solidFill>
                    <a:srgbClr val="9AA6B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UI 디자인 및 Front-end 개발</a:t>
              </a:r>
              <a:endParaRPr lang="en-US" sz="900" dirty="0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D8C8517-FD12-3B32-A38C-7CD72A9740A2}"/>
              </a:ext>
            </a:extLst>
          </p:cNvPr>
          <p:cNvGrpSpPr/>
          <p:nvPr/>
        </p:nvGrpSpPr>
        <p:grpSpPr>
          <a:xfrm>
            <a:off x="6748272" y="3730752"/>
            <a:ext cx="1680972" cy="987552"/>
            <a:chOff x="4367784" y="3730752"/>
            <a:chExt cx="1680972" cy="987552"/>
          </a:xfrm>
        </p:grpSpPr>
        <p:sp>
          <p:nvSpPr>
            <p:cNvPr id="36" name="Text 34"/>
            <p:cNvSpPr/>
            <p:nvPr/>
          </p:nvSpPr>
          <p:spPr>
            <a:xfrm>
              <a:off x="4367784" y="3730752"/>
              <a:ext cx="16809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000" b="1" dirty="0" err="1">
                  <a:solidFill>
                    <a:srgbClr val="2EC4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Backend</a:t>
              </a:r>
            </a:p>
          </p:txBody>
        </p:sp>
        <p:sp>
          <p:nvSpPr>
            <p:cNvPr id="37" name="Text 35"/>
            <p:cNvSpPr/>
            <p:nvPr/>
          </p:nvSpPr>
          <p:spPr>
            <a:xfrm>
              <a:off x="4367784" y="3950208"/>
              <a:ext cx="16809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200" b="1" dirty="0">
                  <a:solidFill>
                    <a:srgbClr val="9AA6B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김보경</a:t>
              </a:r>
              <a:endParaRPr lang="en-US" sz="12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413504" y="4242816"/>
              <a:ext cx="1589532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10000"/>
                </a:lnSpc>
              </a:pPr>
              <a:r>
                <a:rPr lang="en-US" altLang="ko-KR" sz="900" dirty="0">
                  <a:solidFill>
                    <a:srgbClr val="9AA6B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API 개발 및 DB 설계</a:t>
              </a:r>
            </a:p>
          </p:txBody>
        </p:sp>
      </p:grpSp>
      <p:sp>
        <p:nvSpPr>
          <p:cNvPr id="39" name="Shape 37"/>
          <p:cNvSpPr/>
          <p:nvPr/>
        </p:nvSpPr>
        <p:spPr>
          <a:xfrm>
            <a:off x="6155750" y="3749040"/>
            <a:ext cx="0" cy="914400"/>
          </a:xfrm>
          <a:prstGeom prst="line">
            <a:avLst/>
          </a:prstGeom>
          <a:noFill/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4F2FE1-0F7B-57D5-9482-7529F5D15644}"/>
              </a:ext>
            </a:extLst>
          </p:cNvPr>
          <p:cNvGrpSpPr/>
          <p:nvPr/>
        </p:nvGrpSpPr>
        <p:grpSpPr>
          <a:xfrm>
            <a:off x="9600231" y="3730752"/>
            <a:ext cx="1680972" cy="987552"/>
            <a:chOff x="6140196" y="3730752"/>
            <a:chExt cx="1680972" cy="987552"/>
          </a:xfrm>
        </p:grpSpPr>
        <p:sp>
          <p:nvSpPr>
            <p:cNvPr id="40" name="Text 38"/>
            <p:cNvSpPr/>
            <p:nvPr/>
          </p:nvSpPr>
          <p:spPr>
            <a:xfrm>
              <a:off x="6140196" y="3730752"/>
              <a:ext cx="16809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rgbClr val="2EC4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AI / 모델</a:t>
              </a:r>
            </a:p>
          </p:txBody>
        </p:sp>
        <p:sp>
          <p:nvSpPr>
            <p:cNvPr id="41" name="Text 39"/>
            <p:cNvSpPr/>
            <p:nvPr/>
          </p:nvSpPr>
          <p:spPr>
            <a:xfrm>
              <a:off x="6140196" y="3950208"/>
              <a:ext cx="16809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200" b="1" dirty="0">
                  <a:solidFill>
                    <a:srgbClr val="9AA6B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박정영</a:t>
              </a:r>
              <a:endParaRPr lang="en-US" sz="12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6185916" y="4242816"/>
              <a:ext cx="1589532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10000"/>
                </a:lnSpc>
              </a:pPr>
              <a:r>
                <a:rPr lang="ko-KR" altLang="en-US" sz="900" dirty="0">
                  <a:solidFill>
                    <a:srgbClr val="9AA6B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데이터 수집·전처리, 화자분리·STT 모델 담당</a:t>
              </a:r>
              <a:endParaRPr lang="en-US" sz="900" dirty="0"/>
            </a:p>
          </p:txBody>
        </p:sp>
      </p:grpSp>
      <p:sp>
        <p:nvSpPr>
          <p:cNvPr id="43" name="Shape 41"/>
          <p:cNvSpPr/>
          <p:nvPr/>
        </p:nvSpPr>
        <p:spPr>
          <a:xfrm>
            <a:off x="9053430" y="3785616"/>
            <a:ext cx="0" cy="914400"/>
          </a:xfrm>
          <a:prstGeom prst="line">
            <a:avLst/>
          </a:prstGeom>
          <a:noFill/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02920" y="5029200"/>
            <a:ext cx="11185855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777240" y="51572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그라운드 룰  </a:t>
            </a:r>
            <a:r>
              <a:rPr lang="en-US" sz="9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GROUND RULES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77240" y="5486400"/>
            <a:ext cx="238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규칙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77239" y="5705856"/>
            <a:ext cx="25461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ko-KR" altLang="en-US" sz="95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오전 10:00, 15분간 진행 상황·블로커 공유(데일리 스크럼)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435858" y="5504688"/>
            <a:ext cx="0" cy="621792"/>
          </a:xfrm>
          <a:prstGeom prst="line">
            <a:avLst/>
          </a:prstGeom>
          <a:noFill/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3600450" y="5486400"/>
            <a:ext cx="238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문서화 규칙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600450" y="5705856"/>
            <a:ext cx="23842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ko-KR" altLang="en-US" sz="95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회의 내용 정리 후 구글 드라이브에 전체 공유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094476" y="5504688"/>
            <a:ext cx="0" cy="621792"/>
          </a:xfrm>
          <a:prstGeom prst="line">
            <a:avLst/>
          </a:prstGeom>
          <a:noFill/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259068" y="5486400"/>
            <a:ext cx="238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 규칙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259068" y="5705856"/>
            <a:ext cx="23842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ko-KR" altLang="en-US" sz="95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비판보다 서로 존중하는 피드백, 감정보다 코드 기반으로 피드백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753094" y="5504688"/>
            <a:ext cx="0" cy="621792"/>
          </a:xfrm>
          <a:prstGeom prst="line">
            <a:avLst/>
          </a:prstGeom>
          <a:noFill/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8917686" y="5486400"/>
            <a:ext cx="238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규칙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917686" y="5705856"/>
            <a:ext cx="23842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ko-KR" altLang="en-US" sz="95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지연 시 팀원 공유, 개인 사정 발생 시 빠르게 공유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5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어떤 서비스를, 누구를 위해, 어떤 핵심 기능으로 만들지 구체적으로 작성하세요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104120" y="384048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E078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104120" y="384048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작성용 양식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4617720" cy="1737360"/>
          </a:xfrm>
          <a:prstGeom prst="roundRect">
            <a:avLst>
              <a:gd name="adj" fmla="val 5263"/>
            </a:avLst>
          </a:prstGeom>
          <a:solidFill>
            <a:srgbClr val="1B2A57"/>
          </a:solidFill>
          <a:ln/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95528" y="1490472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95528" y="149047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 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0824" y="1490472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020824" y="149047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00" b="1" dirty="0" err="1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</a:rPr>
              <a:t>음성인식·STT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4708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SOAP-er Man</a:t>
            </a:r>
            <a:endParaRPr lang="en-US" altLang="ko-KR" sz="2000" dirty="0"/>
          </a:p>
        </p:txBody>
      </p:sp>
      <p:sp>
        <p:nvSpPr>
          <p:cNvPr id="13" name="Text 11"/>
          <p:cNvSpPr/>
          <p:nvPr/>
        </p:nvSpPr>
        <p:spPr>
          <a:xfrm>
            <a:off x="795528" y="232257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ko-KR" altLang="en-US" sz="1100" b="1" dirty="0">
                <a:solidFill>
                  <a:schemeClr val="bg1">
                    <a:lumMod val="95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의사와 환자의 진료대화 핵심 내용을 요약하는 개인 맞춤형 AI 진료기록 서비스</a:t>
            </a:r>
            <a:endParaRPr lang="en-US" altLang="ko-KR" sz="1100" b="1" dirty="0">
              <a:solidFill>
                <a:schemeClr val="bg1">
                  <a:lumMod val="95000"/>
                </a:schemeClr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303520" y="1325880"/>
            <a:ext cx="6385255" cy="204825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577840" y="1453896"/>
            <a:ext cx="5836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&amp; 타겟  </a:t>
            </a:r>
            <a:r>
              <a:rPr lang="en-US" sz="9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&amp; WHO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577840" y="182880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· 배경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0" y="1763487"/>
            <a:ext cx="49358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외래진료가 많은 의료진의 반복적인 진료차트 작성으로 인한 업무 피로도 증가</a:t>
            </a:r>
          </a:p>
          <a:p>
            <a:pPr marL="171450" indent="-1714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기록 방식으로 인한 기록 누락 및 정확도 저하 위험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171450" indent="-1714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의사-환자 대화 내용을 구조화된 형태로 남기기 어려운 문제</a:t>
            </a:r>
          </a:p>
        </p:txBody>
      </p:sp>
      <p:sp>
        <p:nvSpPr>
          <p:cNvPr id="18" name="Shape 16"/>
          <p:cNvSpPr/>
          <p:nvPr/>
        </p:nvSpPr>
        <p:spPr>
          <a:xfrm>
            <a:off x="5577840" y="2414016"/>
            <a:ext cx="5836615" cy="0"/>
          </a:xfrm>
          <a:prstGeom prst="line">
            <a:avLst/>
          </a:prstGeom>
          <a:noFill/>
          <a:ln w="635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577840" y="250545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 사용자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2542780"/>
            <a:ext cx="48280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000" dirty="0" err="1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외래진료를 자주 하는 의료진</a:t>
            </a:r>
          </a:p>
          <a:p>
            <a:pPr marL="171450" indent="-1714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반복적인 진료기록 작성 업무를 줄이고 싶은 1차 의료기관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171450" indent="-1714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정확하고 일관된 진료기록 관리가 필요한 의료진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2278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 </a:t>
            </a:r>
            <a:r>
              <a:rPr lang="en-US" sz="9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FEATURES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520440"/>
            <a:ext cx="262501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04088" y="3666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" y="3977640"/>
            <a:ext cx="22226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50" b="1" dirty="0" err="1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화자분리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4088" y="4270248"/>
            <a:ext cx="222267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ko-KR" altLang="en-US" sz="95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의료진과 환자의 음성을 자동으로 구분하여 화자를 식별하고, 대화 내용을 정확하게 분리해 후속 분석의 정확도를 높입니다.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56534" y="3520440"/>
            <a:ext cx="262501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557702" y="3666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57702" y="3977640"/>
            <a:ext cx="22226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5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STT 요약 및 데이터화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557702" y="4270248"/>
            <a:ext cx="222267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altLang="ko-KR" sz="95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상담 내용을 텍스트(STT)로 변환하고, 핵심 내용을 추출하여 구조화된 데이터로 저장·활용합니다.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0148" y="3520440"/>
            <a:ext cx="262501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11316" y="3666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11316" y="3977640"/>
            <a:ext cx="22226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5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SOAP 생성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11316" y="4270248"/>
            <a:ext cx="222267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altLang="ko-KR" sz="95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LLM을 활용해 상담 내용을 SOAP 형식으로 자동 요약하고, 진료기록 초안을 신속하고 일관성 있게 생성합니다.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63761" y="3520440"/>
            <a:ext cx="262501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264929" y="3666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264929" y="3977640"/>
            <a:ext cx="22226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5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SOAP 저장 및 관리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264929" y="4270248"/>
            <a:ext cx="222267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ko-KR" altLang="en-US" sz="95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SOAP 문서를 DB에 저장하고, 환자별 기록 조회·수정·관리 기능을 제공하여 효율적인 진료기록 관리를 지원합니다.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53212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77240" y="55321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039112" y="5715000"/>
            <a:ext cx="0" cy="411480"/>
          </a:xfrm>
          <a:prstGeom prst="line">
            <a:avLst/>
          </a:prstGeom>
          <a:noFill/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CEFD02BD-2D13-06C8-57F2-C8DDC5DDDCF0}"/>
              </a:ext>
            </a:extLst>
          </p:cNvPr>
          <p:cNvSpPr/>
          <p:nvPr/>
        </p:nvSpPr>
        <p:spPr>
          <a:xfrm>
            <a:off x="2258568" y="5532120"/>
            <a:ext cx="9128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Figma · AWS · LLM · Python · MySQL · MongoDB</a:t>
            </a:r>
            <a:endParaRPr lang="en-US" sz="1050" dirty="0"/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137606B5-4ED7-138C-6FB1-3F644678EF35}"/>
              </a:ext>
            </a:extLst>
          </p:cNvPr>
          <p:cNvSpPr/>
          <p:nvPr/>
        </p:nvSpPr>
        <p:spPr>
          <a:xfrm>
            <a:off x="3246120" y="1490472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019AE12C-851D-2EF6-D53B-3E2781EFEFA5}"/>
              </a:ext>
            </a:extLst>
          </p:cNvPr>
          <p:cNvSpPr/>
          <p:nvPr/>
        </p:nvSpPr>
        <p:spPr>
          <a:xfrm>
            <a:off x="3246120" y="149047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00" b="1" dirty="0" err="1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</a:rPr>
              <a:t>SOAP 자동화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502920" y="365760"/>
            <a:ext cx="5943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2EC4B6"/>
              </a:buClr>
              <a:buSzPts val="900"/>
            </a:pPr>
            <a:r>
              <a:rPr lang="en-US" altLang="ko" sz="1200" b="1">
                <a:solidFill>
                  <a:srgbClr val="2EC4B6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PROJECT SCHEDULE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B2A57"/>
              </a:buClr>
              <a:buSzPts val="2000"/>
            </a:pPr>
            <a:r>
              <a:rPr lang="ko" altLang="en-US" sz="2667" b="1">
                <a:solidFill>
                  <a:srgbClr val="1B2A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일정표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502920" y="1005840"/>
            <a:ext cx="9327200" cy="2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C6579"/>
              </a:buClr>
              <a:buSzPts val="800"/>
            </a:pPr>
            <a:r>
              <a:rPr lang="en-US" altLang="ko" sz="1067" dirty="0">
                <a:solidFill>
                  <a:srgbClr val="5C657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</a:t>
            </a:r>
            <a:r>
              <a:rPr lang="ko" altLang="en-US" sz="1067" dirty="0">
                <a:solidFill>
                  <a:srgbClr val="5C657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 흐름도의 단계를 세부 과업으로 나누고</a:t>
            </a:r>
            <a:r>
              <a:rPr lang="en-US" altLang="ko" sz="1067" dirty="0">
                <a:solidFill>
                  <a:srgbClr val="5C6579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" altLang="en-US" sz="1067" dirty="0">
                <a:solidFill>
                  <a:srgbClr val="5C6579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수행 기간을 주차 칸에 막대로 표시하세요</a:t>
            </a:r>
            <a:endParaRPr sz="10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10104120" y="384048"/>
            <a:ext cx="1582000" cy="402400"/>
          </a:xfrm>
          <a:prstGeom prst="roundRect">
            <a:avLst>
              <a:gd name="adj" fmla="val 50000"/>
            </a:avLst>
          </a:prstGeom>
          <a:solidFill>
            <a:srgbClr val="E0782B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10104120" y="384048"/>
            <a:ext cx="1582000" cy="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ko" altLang="en-US" sz="1333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작성용 양식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9AE32D2-EBD8-2AAB-0874-7A6C5DA9D3C0}"/>
              </a:ext>
            </a:extLst>
          </p:cNvPr>
          <p:cNvGrpSpPr/>
          <p:nvPr/>
        </p:nvGrpSpPr>
        <p:grpSpPr>
          <a:xfrm>
            <a:off x="503071" y="1349648"/>
            <a:ext cx="11186000" cy="5148221"/>
            <a:chOff x="503071" y="1161283"/>
            <a:chExt cx="11186000" cy="5148221"/>
          </a:xfrm>
        </p:grpSpPr>
        <p:sp>
          <p:nvSpPr>
            <p:cNvPr id="61" name="Google Shape;61;p14"/>
            <p:cNvSpPr/>
            <p:nvPr/>
          </p:nvSpPr>
          <p:spPr>
            <a:xfrm>
              <a:off x="503071" y="1161283"/>
              <a:ext cx="11186000" cy="4773200"/>
            </a:xfrm>
            <a:prstGeom prst="roundRect">
              <a:avLst>
                <a:gd name="adj" fmla="val 1916"/>
              </a:avLst>
            </a:prstGeom>
            <a:solidFill>
              <a:srgbClr val="FFFFFF"/>
            </a:solidFill>
            <a:ln w="9525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1B2A57">
                  <a:alpha val="10200"/>
                </a:srgbClr>
              </a:outerShdw>
            </a:effectLst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795528" y="1389888"/>
              <a:ext cx="1006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ko" altLang="en-US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단계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911096" y="1389888"/>
              <a:ext cx="2158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ko" altLang="en-US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 과업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4069080" y="1389888"/>
              <a:ext cx="1006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ko" altLang="en-US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담당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5074920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W1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5867019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W2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6659119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W3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7451217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W4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8243316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W5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9035415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W6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9827515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W7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10619613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W8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5" name="Google Shape;75;p14"/>
            <p:cNvCxnSpPr/>
            <p:nvPr/>
          </p:nvCxnSpPr>
          <p:spPr>
            <a:xfrm>
              <a:off x="777240" y="1755648"/>
              <a:ext cx="10634400" cy="0"/>
            </a:xfrm>
            <a:prstGeom prst="straightConnector1">
              <a:avLst/>
            </a:prstGeom>
            <a:noFill/>
            <a:ln w="11900" cap="flat" cmpd="sng">
              <a:solidFill>
                <a:srgbClr val="C7D2E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14"/>
            <p:cNvCxnSpPr/>
            <p:nvPr/>
          </p:nvCxnSpPr>
          <p:spPr>
            <a:xfrm>
              <a:off x="5074920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" name="Google Shape;77;p14"/>
            <p:cNvCxnSpPr/>
            <p:nvPr/>
          </p:nvCxnSpPr>
          <p:spPr>
            <a:xfrm>
              <a:off x="5867019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" name="Google Shape;78;p14"/>
            <p:cNvCxnSpPr/>
            <p:nvPr/>
          </p:nvCxnSpPr>
          <p:spPr>
            <a:xfrm>
              <a:off x="6659119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14"/>
            <p:cNvCxnSpPr/>
            <p:nvPr/>
          </p:nvCxnSpPr>
          <p:spPr>
            <a:xfrm>
              <a:off x="7451217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" name="Google Shape;80;p14"/>
            <p:cNvCxnSpPr/>
            <p:nvPr/>
          </p:nvCxnSpPr>
          <p:spPr>
            <a:xfrm>
              <a:off x="8243316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" name="Google Shape;81;p14"/>
            <p:cNvCxnSpPr/>
            <p:nvPr/>
          </p:nvCxnSpPr>
          <p:spPr>
            <a:xfrm>
              <a:off x="9035415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" name="Google Shape;82;p14"/>
            <p:cNvCxnSpPr/>
            <p:nvPr/>
          </p:nvCxnSpPr>
          <p:spPr>
            <a:xfrm>
              <a:off x="9827515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14"/>
            <p:cNvCxnSpPr/>
            <p:nvPr/>
          </p:nvCxnSpPr>
          <p:spPr>
            <a:xfrm>
              <a:off x="10619613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14"/>
            <p:cNvCxnSpPr/>
            <p:nvPr/>
          </p:nvCxnSpPr>
          <p:spPr>
            <a:xfrm>
              <a:off x="11411712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14"/>
            <p:cNvCxnSpPr/>
            <p:nvPr/>
          </p:nvCxnSpPr>
          <p:spPr>
            <a:xfrm>
              <a:off x="1783080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14"/>
            <p:cNvCxnSpPr/>
            <p:nvPr/>
          </p:nvCxnSpPr>
          <p:spPr>
            <a:xfrm>
              <a:off x="4069080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14"/>
            <p:cNvCxnSpPr/>
            <p:nvPr/>
          </p:nvCxnSpPr>
          <p:spPr>
            <a:xfrm>
              <a:off x="1783080" y="2253996"/>
              <a:ext cx="9628400" cy="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14"/>
            <p:cNvCxnSpPr>
              <a:cxnSpLocks/>
            </p:cNvCxnSpPr>
            <p:nvPr/>
          </p:nvCxnSpPr>
          <p:spPr>
            <a:xfrm>
              <a:off x="1783080" y="2754014"/>
              <a:ext cx="9628400" cy="0"/>
            </a:xfrm>
            <a:prstGeom prst="straightConnector1">
              <a:avLst/>
            </a:prstGeom>
            <a:noFill/>
            <a:ln w="9525" cap="flat" cmpd="sng">
              <a:solidFill>
                <a:srgbClr val="C7D2E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4"/>
            <p:cNvCxnSpPr/>
            <p:nvPr/>
          </p:nvCxnSpPr>
          <p:spPr>
            <a:xfrm>
              <a:off x="1783080" y="3250692"/>
              <a:ext cx="9628400" cy="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14"/>
            <p:cNvCxnSpPr/>
            <p:nvPr/>
          </p:nvCxnSpPr>
          <p:spPr>
            <a:xfrm>
              <a:off x="777240" y="3749040"/>
              <a:ext cx="10634400" cy="0"/>
            </a:xfrm>
            <a:prstGeom prst="straightConnector1">
              <a:avLst/>
            </a:prstGeom>
            <a:noFill/>
            <a:ln w="9525" cap="flat" cmpd="sng">
              <a:solidFill>
                <a:srgbClr val="C7D2E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14"/>
            <p:cNvCxnSpPr/>
            <p:nvPr/>
          </p:nvCxnSpPr>
          <p:spPr>
            <a:xfrm>
              <a:off x="1783080" y="4247388"/>
              <a:ext cx="9628400" cy="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14"/>
            <p:cNvCxnSpPr>
              <a:cxnSpLocks/>
            </p:cNvCxnSpPr>
            <p:nvPr/>
          </p:nvCxnSpPr>
          <p:spPr>
            <a:xfrm>
              <a:off x="1783080" y="4745736"/>
              <a:ext cx="9628560" cy="0"/>
            </a:xfrm>
            <a:prstGeom prst="straightConnector1">
              <a:avLst/>
            </a:prstGeom>
            <a:noFill/>
            <a:ln w="9525" cap="flat" cmpd="sng">
              <a:solidFill>
                <a:srgbClr val="C7D2E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14"/>
            <p:cNvCxnSpPr>
              <a:cxnSpLocks/>
            </p:cNvCxnSpPr>
            <p:nvPr/>
          </p:nvCxnSpPr>
          <p:spPr>
            <a:xfrm>
              <a:off x="777240" y="5244084"/>
              <a:ext cx="10634400" cy="0"/>
            </a:xfrm>
            <a:prstGeom prst="straightConnector1">
              <a:avLst/>
            </a:prstGeom>
            <a:noFill/>
            <a:ln w="9525" cap="flat" cmpd="sng">
              <a:solidFill>
                <a:srgbClr val="C7D2E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4" name="Google Shape;94;p14"/>
            <p:cNvSpPr/>
            <p:nvPr/>
          </p:nvSpPr>
          <p:spPr>
            <a:xfrm>
              <a:off x="795528" y="2312466"/>
              <a:ext cx="914400" cy="99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700"/>
              </a:pPr>
              <a:r>
                <a:rPr lang="ko" altLang="en-US" sz="933" b="1" dirty="0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</a:t>
              </a:r>
              <a:r>
                <a:rPr lang="en-US" altLang="ko" sz="933" b="1" dirty="0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ko" altLang="en-US" sz="933" b="1" dirty="0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요구사항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795528" y="4025314"/>
              <a:ext cx="914400" cy="99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700"/>
              </a:pPr>
              <a:r>
                <a:rPr lang="ko-KR" altLang="en-US" sz="933" b="1" dirty="0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</a:t>
              </a:r>
              <a:r>
                <a:rPr lang="en-US" altLang="ko-KR" sz="933" b="1" dirty="0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933" b="1" dirty="0" err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백엔드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1911096" y="1755648"/>
              <a:ext cx="2158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ko-KR" altLang="en-US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 시나리오 및 요구사항 정의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4069080" y="1755648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조요한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1911096" y="2253996"/>
              <a:ext cx="20664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ko-KR" altLang="en-US" sz="1067" dirty="0" err="1">
                  <a:solidFill>
                    <a:srgbClr val="9AA6BF"/>
                  </a:solidFill>
                  <a:latin typeface="Malgun Gothic"/>
                  <a:ea typeface="Malgun Gothic"/>
                  <a:sym typeface="Calibri"/>
                </a:rPr>
                <a:t>화자분리·STT 기술 조사 및 파이프라인 설계</a:t>
              </a:r>
              <a:endParaRPr sz="1067" dirty="0">
                <a:solidFill>
                  <a:srgbClr val="9AA6BF"/>
                </a:solidFill>
                <a:latin typeface="Malgun Gothic"/>
                <a:ea typeface="Malgun Gothic"/>
                <a:sym typeface="Calibri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4069080" y="2253996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박정영</a:t>
              </a:r>
              <a:endParaRPr lang="ko-KR" altLang="en-US" sz="933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1911096" y="2752344"/>
              <a:ext cx="20664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en-US" altLang="ko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구조(ERD) 설계 및 API 명세 작성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4069080" y="2752344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김보경</a:t>
              </a:r>
              <a:endParaRPr lang="ko-KR" altLang="en-US" sz="933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1911096" y="3250692"/>
              <a:ext cx="20664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en-US" altLang="ko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와이어프레임 및 핵심 화면 흐름 설계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4069080" y="3250692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김민주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1911100" y="3749051"/>
              <a:ext cx="21912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ko-KR" altLang="en-US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진료 음성 데이터 수집 및 저장 구조 설계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4069080" y="3749040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김보경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1911096" y="4247388"/>
              <a:ext cx="20664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ko-KR" altLang="en-US" sz="1067" dirty="0" err="1">
                  <a:solidFill>
                    <a:srgbClr val="9AA6BF"/>
                  </a:solidFill>
                  <a:latin typeface="Malgun Gothic"/>
                  <a:ea typeface="Malgun Gothic"/>
                  <a:sym typeface="Calibri"/>
                </a:rPr>
                <a:t>pyannote.audio 기반 화자분리 모듈 개발</a:t>
              </a:r>
              <a:endParaRPr sz="1067" dirty="0">
                <a:solidFill>
                  <a:srgbClr val="9AA6BF"/>
                </a:solidFill>
                <a:latin typeface="Malgun Gothic"/>
                <a:ea typeface="Malgun Gothic"/>
                <a:sym typeface="Calibri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4069080" y="4247388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박정영</a:t>
              </a:r>
              <a:endParaRPr lang="ko-KR" altLang="en-US" sz="933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1911096" y="4745736"/>
              <a:ext cx="20664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ko-KR" altLang="en-US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음성 업로드·녹음 REST API 구현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4069080" y="4745736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김보경</a:t>
              </a:r>
              <a:endParaRPr lang="ko-KR" altLang="en-US" sz="933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1911096" y="5244084"/>
              <a:ext cx="20664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en-US" altLang="ko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STT 변환 및 SOAP 생성 프롬프트 엔지니어링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4069080" y="5244084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박정영</a:t>
              </a:r>
              <a:endParaRPr lang="ko-KR" altLang="en-US" sz="933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777240" y="6126480"/>
              <a:ext cx="411600" cy="1464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1280160" y="6089904"/>
              <a:ext cx="1006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5C6579"/>
                </a:buClr>
                <a:buSzPts val="700"/>
              </a:pPr>
              <a:r>
                <a:rPr lang="ko" altLang="en-US" sz="933">
                  <a:solidFill>
                    <a:srgbClr val="5C657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수행 기간</a:t>
              </a:r>
              <a:endParaRPr sz="9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2377440" y="6126480"/>
              <a:ext cx="146400" cy="146400"/>
            </a:xfrm>
            <a:prstGeom prst="diamond">
              <a:avLst/>
            </a:prstGeom>
            <a:solidFill>
              <a:srgbClr val="1B2A57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2615184" y="6089904"/>
              <a:ext cx="1006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5C6579"/>
                </a:buClr>
                <a:buSzPts val="700"/>
              </a:pPr>
              <a:r>
                <a:rPr lang="ko" altLang="en-US" sz="933">
                  <a:solidFill>
                    <a:srgbClr val="5C657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마일스톤</a:t>
              </a:r>
              <a:endParaRPr sz="9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5074925" y="1876875"/>
              <a:ext cx="1582000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5074925" y="2375225"/>
              <a:ext cx="1582000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5867025" y="2873575"/>
              <a:ext cx="1581908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5869275" y="3371925"/>
              <a:ext cx="1582000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6676144" y="3870275"/>
              <a:ext cx="1564888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7451119" y="4368625"/>
              <a:ext cx="1582000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8248120" y="4866951"/>
              <a:ext cx="1582000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886346" y="5365300"/>
              <a:ext cx="2338519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6300115" y="1931631"/>
              <a:ext cx="146400" cy="146400"/>
            </a:xfrm>
            <a:prstGeom prst="diamond">
              <a:avLst/>
            </a:prstGeom>
            <a:solidFill>
              <a:srgbClr val="1B2A57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7124165" y="3426680"/>
              <a:ext cx="146400" cy="146400"/>
            </a:xfrm>
            <a:prstGeom prst="diamond">
              <a:avLst/>
            </a:prstGeom>
            <a:solidFill>
              <a:srgbClr val="1B2A57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8697834" y="4423368"/>
              <a:ext cx="146400" cy="146400"/>
            </a:xfrm>
            <a:prstGeom prst="diamond">
              <a:avLst/>
            </a:prstGeom>
            <a:solidFill>
              <a:srgbClr val="1B2A57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9486922" y="4921692"/>
              <a:ext cx="146400" cy="146400"/>
            </a:xfrm>
            <a:prstGeom prst="diamond">
              <a:avLst/>
            </a:prstGeom>
            <a:solidFill>
              <a:srgbClr val="1B2A57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7994475" y="5420043"/>
              <a:ext cx="146400" cy="146400"/>
            </a:xfrm>
            <a:prstGeom prst="diamond">
              <a:avLst/>
            </a:prstGeom>
            <a:solidFill>
              <a:srgbClr val="1B2A57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96;p14">
              <a:extLst>
                <a:ext uri="{FF2B5EF4-FFF2-40B4-BE49-F238E27FC236}">
                  <a16:creationId xmlns:a16="http://schemas.microsoft.com/office/drawing/2014/main" id="{FB4ABCE4-1B6D-CB9C-A8F3-BC91C6C93B24}"/>
                </a:ext>
              </a:extLst>
            </p:cNvPr>
            <p:cNvSpPr/>
            <p:nvPr/>
          </p:nvSpPr>
          <p:spPr>
            <a:xfrm>
              <a:off x="795528" y="5033682"/>
              <a:ext cx="914400" cy="99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700"/>
              </a:pPr>
              <a:r>
                <a:rPr lang="en-US" altLang="ko-KR" sz="933" b="1" dirty="0">
                  <a:solidFill>
                    <a:srgbClr val="2EC4B6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AI, LLM </a:t>
              </a:r>
              <a:r>
                <a:rPr lang="ko-KR" altLang="en-US" sz="933" b="1" dirty="0">
                  <a:solidFill>
                    <a:srgbClr val="2EC4B6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개발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57D716B3-4566-F445-6285-7FC0EECC0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>
            <a:extLst>
              <a:ext uri="{FF2B5EF4-FFF2-40B4-BE49-F238E27FC236}">
                <a16:creationId xmlns:a16="http://schemas.microsoft.com/office/drawing/2014/main" id="{DD8C6A9B-1B83-758B-A9A9-62A162F044D2}"/>
              </a:ext>
            </a:extLst>
          </p:cNvPr>
          <p:cNvSpPr/>
          <p:nvPr/>
        </p:nvSpPr>
        <p:spPr>
          <a:xfrm>
            <a:off x="502920" y="365760"/>
            <a:ext cx="5943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2EC4B6"/>
              </a:buClr>
              <a:buSzPts val="900"/>
            </a:pPr>
            <a:r>
              <a:rPr lang="en-US" altLang="ko" sz="1200" b="1">
                <a:solidFill>
                  <a:srgbClr val="2EC4B6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PROJECT SCHEDULE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>
            <a:extLst>
              <a:ext uri="{FF2B5EF4-FFF2-40B4-BE49-F238E27FC236}">
                <a16:creationId xmlns:a16="http://schemas.microsoft.com/office/drawing/2014/main" id="{E63B85D1-5643-D431-AAE4-04150D64A786}"/>
              </a:ext>
            </a:extLst>
          </p:cNvPr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B2A57"/>
              </a:buClr>
              <a:buSzPts val="2000"/>
            </a:pPr>
            <a:r>
              <a:rPr lang="ko" altLang="en-US" sz="2667" b="1">
                <a:solidFill>
                  <a:srgbClr val="1B2A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일정표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>
            <a:extLst>
              <a:ext uri="{FF2B5EF4-FFF2-40B4-BE49-F238E27FC236}">
                <a16:creationId xmlns:a16="http://schemas.microsoft.com/office/drawing/2014/main" id="{113A6814-2133-580D-F16E-A0DD411F34A6}"/>
              </a:ext>
            </a:extLst>
          </p:cNvPr>
          <p:cNvSpPr/>
          <p:nvPr/>
        </p:nvSpPr>
        <p:spPr>
          <a:xfrm>
            <a:off x="502920" y="1005840"/>
            <a:ext cx="9327200" cy="2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C6579"/>
              </a:buClr>
              <a:buSzPts val="800"/>
            </a:pPr>
            <a:r>
              <a:rPr lang="en-US" altLang="ko" sz="1067" dirty="0">
                <a:solidFill>
                  <a:srgbClr val="5C657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</a:t>
            </a:r>
            <a:r>
              <a:rPr lang="ko" altLang="en-US" sz="1067" dirty="0">
                <a:solidFill>
                  <a:srgbClr val="5C657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 흐름도의 단계를 세부 과업으로 나누고</a:t>
            </a:r>
            <a:r>
              <a:rPr lang="en-US" altLang="ko" sz="1067" dirty="0">
                <a:solidFill>
                  <a:srgbClr val="5C6579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" altLang="en-US" sz="1067" dirty="0">
                <a:solidFill>
                  <a:srgbClr val="5C6579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수행 기간을 주차 칸에 막대로 표시하세요</a:t>
            </a:r>
            <a:endParaRPr sz="10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79CA1DD6-A358-9631-4D88-1C7471D9F5DF}"/>
              </a:ext>
            </a:extLst>
          </p:cNvPr>
          <p:cNvSpPr/>
          <p:nvPr/>
        </p:nvSpPr>
        <p:spPr>
          <a:xfrm>
            <a:off x="10104120" y="384048"/>
            <a:ext cx="1582000" cy="402400"/>
          </a:xfrm>
          <a:prstGeom prst="roundRect">
            <a:avLst>
              <a:gd name="adj" fmla="val 50000"/>
            </a:avLst>
          </a:prstGeom>
          <a:solidFill>
            <a:srgbClr val="E0782B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125FDD10-60D2-7F77-3FC2-CCCCE110746D}"/>
              </a:ext>
            </a:extLst>
          </p:cNvPr>
          <p:cNvSpPr/>
          <p:nvPr/>
        </p:nvSpPr>
        <p:spPr>
          <a:xfrm>
            <a:off x="10104120" y="384048"/>
            <a:ext cx="1582000" cy="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ko" altLang="en-US" sz="1333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작성용 양식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5824C6E-4107-9785-67F1-4CA0FC80B6E7}"/>
              </a:ext>
            </a:extLst>
          </p:cNvPr>
          <p:cNvGrpSpPr/>
          <p:nvPr/>
        </p:nvGrpSpPr>
        <p:grpSpPr>
          <a:xfrm>
            <a:off x="503071" y="1349648"/>
            <a:ext cx="11186000" cy="5148221"/>
            <a:chOff x="503071" y="1161283"/>
            <a:chExt cx="11186000" cy="5148221"/>
          </a:xfrm>
        </p:grpSpPr>
        <p:sp>
          <p:nvSpPr>
            <p:cNvPr id="61" name="Google Shape;61;p14">
              <a:extLst>
                <a:ext uri="{FF2B5EF4-FFF2-40B4-BE49-F238E27FC236}">
                  <a16:creationId xmlns:a16="http://schemas.microsoft.com/office/drawing/2014/main" id="{ABEAA957-9491-192B-16A1-E0963A1252AB}"/>
                </a:ext>
              </a:extLst>
            </p:cNvPr>
            <p:cNvSpPr/>
            <p:nvPr/>
          </p:nvSpPr>
          <p:spPr>
            <a:xfrm>
              <a:off x="503071" y="1161283"/>
              <a:ext cx="11186000" cy="4773200"/>
            </a:xfrm>
            <a:prstGeom prst="roundRect">
              <a:avLst>
                <a:gd name="adj" fmla="val 1916"/>
              </a:avLst>
            </a:prstGeom>
            <a:solidFill>
              <a:srgbClr val="FFFFFF"/>
            </a:solidFill>
            <a:ln w="9525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1B2A57">
                  <a:alpha val="10200"/>
                </a:srgbClr>
              </a:outerShdw>
            </a:effectLst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4">
              <a:extLst>
                <a:ext uri="{FF2B5EF4-FFF2-40B4-BE49-F238E27FC236}">
                  <a16:creationId xmlns:a16="http://schemas.microsoft.com/office/drawing/2014/main" id="{EA7764CE-A81C-3053-33EC-5BB29F96573B}"/>
                </a:ext>
              </a:extLst>
            </p:cNvPr>
            <p:cNvSpPr/>
            <p:nvPr/>
          </p:nvSpPr>
          <p:spPr>
            <a:xfrm>
              <a:off x="777240" y="2752343"/>
              <a:ext cx="10634400" cy="1495107"/>
            </a:xfrm>
            <a:prstGeom prst="rect">
              <a:avLst/>
            </a:prstGeom>
            <a:solidFill>
              <a:srgbClr val="F7FAFF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14">
              <a:extLst>
                <a:ext uri="{FF2B5EF4-FFF2-40B4-BE49-F238E27FC236}">
                  <a16:creationId xmlns:a16="http://schemas.microsoft.com/office/drawing/2014/main" id="{825AE84D-1459-D58F-BAE9-60643FADF83C}"/>
                </a:ext>
              </a:extLst>
            </p:cNvPr>
            <p:cNvSpPr/>
            <p:nvPr/>
          </p:nvSpPr>
          <p:spPr>
            <a:xfrm>
              <a:off x="795528" y="1389888"/>
              <a:ext cx="1006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ko" altLang="en-US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단계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4">
              <a:extLst>
                <a:ext uri="{FF2B5EF4-FFF2-40B4-BE49-F238E27FC236}">
                  <a16:creationId xmlns:a16="http://schemas.microsoft.com/office/drawing/2014/main" id="{03A6DB68-2FC9-96CA-2ACB-59F1913CBD1C}"/>
                </a:ext>
              </a:extLst>
            </p:cNvPr>
            <p:cNvSpPr/>
            <p:nvPr/>
          </p:nvSpPr>
          <p:spPr>
            <a:xfrm>
              <a:off x="1911096" y="1389888"/>
              <a:ext cx="2158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ko" altLang="en-US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 과업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14">
              <a:extLst>
                <a:ext uri="{FF2B5EF4-FFF2-40B4-BE49-F238E27FC236}">
                  <a16:creationId xmlns:a16="http://schemas.microsoft.com/office/drawing/2014/main" id="{B07332B4-1A9F-5D38-8DB9-2A75B7C7AD47}"/>
                </a:ext>
              </a:extLst>
            </p:cNvPr>
            <p:cNvSpPr/>
            <p:nvPr/>
          </p:nvSpPr>
          <p:spPr>
            <a:xfrm>
              <a:off x="4069080" y="1389888"/>
              <a:ext cx="1006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ko" altLang="en-US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담당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4">
              <a:extLst>
                <a:ext uri="{FF2B5EF4-FFF2-40B4-BE49-F238E27FC236}">
                  <a16:creationId xmlns:a16="http://schemas.microsoft.com/office/drawing/2014/main" id="{4989B418-CD9E-0869-CEED-515FBA0FFC2B}"/>
                </a:ext>
              </a:extLst>
            </p:cNvPr>
            <p:cNvSpPr/>
            <p:nvPr/>
          </p:nvSpPr>
          <p:spPr>
            <a:xfrm>
              <a:off x="5074920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W1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4">
              <a:extLst>
                <a:ext uri="{FF2B5EF4-FFF2-40B4-BE49-F238E27FC236}">
                  <a16:creationId xmlns:a16="http://schemas.microsoft.com/office/drawing/2014/main" id="{71CB96D5-76B5-50B3-EEAA-05EA4D897B57}"/>
                </a:ext>
              </a:extLst>
            </p:cNvPr>
            <p:cNvSpPr/>
            <p:nvPr/>
          </p:nvSpPr>
          <p:spPr>
            <a:xfrm>
              <a:off x="5867019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W2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4">
              <a:extLst>
                <a:ext uri="{FF2B5EF4-FFF2-40B4-BE49-F238E27FC236}">
                  <a16:creationId xmlns:a16="http://schemas.microsoft.com/office/drawing/2014/main" id="{95784261-5D3B-C562-20F1-610B87318148}"/>
                </a:ext>
              </a:extLst>
            </p:cNvPr>
            <p:cNvSpPr/>
            <p:nvPr/>
          </p:nvSpPr>
          <p:spPr>
            <a:xfrm>
              <a:off x="6659119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W3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4">
              <a:extLst>
                <a:ext uri="{FF2B5EF4-FFF2-40B4-BE49-F238E27FC236}">
                  <a16:creationId xmlns:a16="http://schemas.microsoft.com/office/drawing/2014/main" id="{91C078B0-787B-F6C8-27CF-1BC6B6B6D17F}"/>
                </a:ext>
              </a:extLst>
            </p:cNvPr>
            <p:cNvSpPr/>
            <p:nvPr/>
          </p:nvSpPr>
          <p:spPr>
            <a:xfrm>
              <a:off x="7451217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W4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4">
              <a:extLst>
                <a:ext uri="{FF2B5EF4-FFF2-40B4-BE49-F238E27FC236}">
                  <a16:creationId xmlns:a16="http://schemas.microsoft.com/office/drawing/2014/main" id="{F72CD4EC-14B1-8855-B711-F909DC4D5770}"/>
                </a:ext>
              </a:extLst>
            </p:cNvPr>
            <p:cNvSpPr/>
            <p:nvPr/>
          </p:nvSpPr>
          <p:spPr>
            <a:xfrm>
              <a:off x="8243316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W5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4">
              <a:extLst>
                <a:ext uri="{FF2B5EF4-FFF2-40B4-BE49-F238E27FC236}">
                  <a16:creationId xmlns:a16="http://schemas.microsoft.com/office/drawing/2014/main" id="{EF03F6AF-F3A2-2D4E-1247-ED2C08AB645F}"/>
                </a:ext>
              </a:extLst>
            </p:cNvPr>
            <p:cNvSpPr/>
            <p:nvPr/>
          </p:nvSpPr>
          <p:spPr>
            <a:xfrm>
              <a:off x="9035415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W6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C040AA6E-BC38-C33E-6298-C0551824662E}"/>
                </a:ext>
              </a:extLst>
            </p:cNvPr>
            <p:cNvSpPr/>
            <p:nvPr/>
          </p:nvSpPr>
          <p:spPr>
            <a:xfrm>
              <a:off x="9827515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W7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9781CAEB-1266-E978-13FE-8D25EA53B6D4}"/>
                </a:ext>
              </a:extLst>
            </p:cNvPr>
            <p:cNvSpPr/>
            <p:nvPr/>
          </p:nvSpPr>
          <p:spPr>
            <a:xfrm>
              <a:off x="10619613" y="1389888"/>
              <a:ext cx="7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800"/>
              </a:pPr>
              <a:r>
                <a:rPr lang="en-US" altLang="ko" sz="1067" b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W8</a:t>
              </a:r>
              <a:endParaRPr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5" name="Google Shape;75;p14">
              <a:extLst>
                <a:ext uri="{FF2B5EF4-FFF2-40B4-BE49-F238E27FC236}">
                  <a16:creationId xmlns:a16="http://schemas.microsoft.com/office/drawing/2014/main" id="{24795618-88C2-3165-014F-92D3475FB4B3}"/>
                </a:ext>
              </a:extLst>
            </p:cNvPr>
            <p:cNvCxnSpPr/>
            <p:nvPr/>
          </p:nvCxnSpPr>
          <p:spPr>
            <a:xfrm>
              <a:off x="777240" y="1755648"/>
              <a:ext cx="10634400" cy="0"/>
            </a:xfrm>
            <a:prstGeom prst="straightConnector1">
              <a:avLst/>
            </a:prstGeom>
            <a:noFill/>
            <a:ln w="11900" cap="flat" cmpd="sng">
              <a:solidFill>
                <a:srgbClr val="C7D2E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14">
              <a:extLst>
                <a:ext uri="{FF2B5EF4-FFF2-40B4-BE49-F238E27FC236}">
                  <a16:creationId xmlns:a16="http://schemas.microsoft.com/office/drawing/2014/main" id="{10D90CC4-A3D4-5274-ABF5-697FB5576A67}"/>
                </a:ext>
              </a:extLst>
            </p:cNvPr>
            <p:cNvCxnSpPr/>
            <p:nvPr/>
          </p:nvCxnSpPr>
          <p:spPr>
            <a:xfrm>
              <a:off x="5074920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" name="Google Shape;77;p14">
              <a:extLst>
                <a:ext uri="{FF2B5EF4-FFF2-40B4-BE49-F238E27FC236}">
                  <a16:creationId xmlns:a16="http://schemas.microsoft.com/office/drawing/2014/main" id="{228BC085-1206-79CA-B81B-158FC5326794}"/>
                </a:ext>
              </a:extLst>
            </p:cNvPr>
            <p:cNvCxnSpPr/>
            <p:nvPr/>
          </p:nvCxnSpPr>
          <p:spPr>
            <a:xfrm>
              <a:off x="5867019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" name="Google Shape;78;p14">
              <a:extLst>
                <a:ext uri="{FF2B5EF4-FFF2-40B4-BE49-F238E27FC236}">
                  <a16:creationId xmlns:a16="http://schemas.microsoft.com/office/drawing/2014/main" id="{3802D77D-0182-954A-4388-2610A4302306}"/>
                </a:ext>
              </a:extLst>
            </p:cNvPr>
            <p:cNvCxnSpPr/>
            <p:nvPr/>
          </p:nvCxnSpPr>
          <p:spPr>
            <a:xfrm>
              <a:off x="6659119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14">
              <a:extLst>
                <a:ext uri="{FF2B5EF4-FFF2-40B4-BE49-F238E27FC236}">
                  <a16:creationId xmlns:a16="http://schemas.microsoft.com/office/drawing/2014/main" id="{B63B7480-3CD6-9629-D76E-277F2377F9D5}"/>
                </a:ext>
              </a:extLst>
            </p:cNvPr>
            <p:cNvCxnSpPr/>
            <p:nvPr/>
          </p:nvCxnSpPr>
          <p:spPr>
            <a:xfrm>
              <a:off x="7451217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" name="Google Shape;80;p14">
              <a:extLst>
                <a:ext uri="{FF2B5EF4-FFF2-40B4-BE49-F238E27FC236}">
                  <a16:creationId xmlns:a16="http://schemas.microsoft.com/office/drawing/2014/main" id="{E11406FD-A9BE-D8E5-C34C-B10BFC62D28F}"/>
                </a:ext>
              </a:extLst>
            </p:cNvPr>
            <p:cNvCxnSpPr/>
            <p:nvPr/>
          </p:nvCxnSpPr>
          <p:spPr>
            <a:xfrm>
              <a:off x="8243316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" name="Google Shape;81;p14">
              <a:extLst>
                <a:ext uri="{FF2B5EF4-FFF2-40B4-BE49-F238E27FC236}">
                  <a16:creationId xmlns:a16="http://schemas.microsoft.com/office/drawing/2014/main" id="{326DA415-67F2-A3E5-AF2D-EA3A639A632B}"/>
                </a:ext>
              </a:extLst>
            </p:cNvPr>
            <p:cNvCxnSpPr/>
            <p:nvPr/>
          </p:nvCxnSpPr>
          <p:spPr>
            <a:xfrm>
              <a:off x="9035415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" name="Google Shape;82;p14">
              <a:extLst>
                <a:ext uri="{FF2B5EF4-FFF2-40B4-BE49-F238E27FC236}">
                  <a16:creationId xmlns:a16="http://schemas.microsoft.com/office/drawing/2014/main" id="{A56F954A-78FD-206F-A97F-0C9073985E68}"/>
                </a:ext>
              </a:extLst>
            </p:cNvPr>
            <p:cNvCxnSpPr/>
            <p:nvPr/>
          </p:nvCxnSpPr>
          <p:spPr>
            <a:xfrm>
              <a:off x="9827515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14">
              <a:extLst>
                <a:ext uri="{FF2B5EF4-FFF2-40B4-BE49-F238E27FC236}">
                  <a16:creationId xmlns:a16="http://schemas.microsoft.com/office/drawing/2014/main" id="{1DADCFAD-A538-7E79-C096-D3F1975A5467}"/>
                </a:ext>
              </a:extLst>
            </p:cNvPr>
            <p:cNvCxnSpPr/>
            <p:nvPr/>
          </p:nvCxnSpPr>
          <p:spPr>
            <a:xfrm>
              <a:off x="10619613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14">
              <a:extLst>
                <a:ext uri="{FF2B5EF4-FFF2-40B4-BE49-F238E27FC236}">
                  <a16:creationId xmlns:a16="http://schemas.microsoft.com/office/drawing/2014/main" id="{A156A023-EE2F-3772-D3D7-F1035E464653}"/>
                </a:ext>
              </a:extLst>
            </p:cNvPr>
            <p:cNvCxnSpPr/>
            <p:nvPr/>
          </p:nvCxnSpPr>
          <p:spPr>
            <a:xfrm>
              <a:off x="11411712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14">
              <a:extLst>
                <a:ext uri="{FF2B5EF4-FFF2-40B4-BE49-F238E27FC236}">
                  <a16:creationId xmlns:a16="http://schemas.microsoft.com/office/drawing/2014/main" id="{B3CFDD45-977E-3E66-F9D4-44D92F516DFA}"/>
                </a:ext>
              </a:extLst>
            </p:cNvPr>
            <p:cNvCxnSpPr/>
            <p:nvPr/>
          </p:nvCxnSpPr>
          <p:spPr>
            <a:xfrm>
              <a:off x="1783080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14">
              <a:extLst>
                <a:ext uri="{FF2B5EF4-FFF2-40B4-BE49-F238E27FC236}">
                  <a16:creationId xmlns:a16="http://schemas.microsoft.com/office/drawing/2014/main" id="{ED3F4D7D-6F43-139F-79CD-BFC67FC58C7D}"/>
                </a:ext>
              </a:extLst>
            </p:cNvPr>
            <p:cNvCxnSpPr/>
            <p:nvPr/>
          </p:nvCxnSpPr>
          <p:spPr>
            <a:xfrm>
              <a:off x="4069080" y="1755648"/>
              <a:ext cx="0" cy="398680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14">
              <a:extLst>
                <a:ext uri="{FF2B5EF4-FFF2-40B4-BE49-F238E27FC236}">
                  <a16:creationId xmlns:a16="http://schemas.microsoft.com/office/drawing/2014/main" id="{E3DE6462-B2E8-4164-091E-741207A098A5}"/>
                </a:ext>
              </a:extLst>
            </p:cNvPr>
            <p:cNvCxnSpPr/>
            <p:nvPr/>
          </p:nvCxnSpPr>
          <p:spPr>
            <a:xfrm>
              <a:off x="1783080" y="2253996"/>
              <a:ext cx="9628400" cy="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14">
              <a:extLst>
                <a:ext uri="{FF2B5EF4-FFF2-40B4-BE49-F238E27FC236}">
                  <a16:creationId xmlns:a16="http://schemas.microsoft.com/office/drawing/2014/main" id="{4B4A3C7B-B55E-B953-7043-767BBFCEE07B}"/>
                </a:ext>
              </a:extLst>
            </p:cNvPr>
            <p:cNvCxnSpPr/>
            <p:nvPr/>
          </p:nvCxnSpPr>
          <p:spPr>
            <a:xfrm>
              <a:off x="777240" y="2752344"/>
              <a:ext cx="10634400" cy="0"/>
            </a:xfrm>
            <a:prstGeom prst="straightConnector1">
              <a:avLst/>
            </a:prstGeom>
            <a:noFill/>
            <a:ln w="9525" cap="flat" cmpd="sng">
              <a:solidFill>
                <a:srgbClr val="C7D2E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4">
              <a:extLst>
                <a:ext uri="{FF2B5EF4-FFF2-40B4-BE49-F238E27FC236}">
                  <a16:creationId xmlns:a16="http://schemas.microsoft.com/office/drawing/2014/main" id="{07A069F4-96D4-A238-1DDD-73B24DADE73B}"/>
                </a:ext>
              </a:extLst>
            </p:cNvPr>
            <p:cNvCxnSpPr/>
            <p:nvPr/>
          </p:nvCxnSpPr>
          <p:spPr>
            <a:xfrm>
              <a:off x="1783080" y="3250692"/>
              <a:ext cx="9628400" cy="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14">
              <a:extLst>
                <a:ext uri="{FF2B5EF4-FFF2-40B4-BE49-F238E27FC236}">
                  <a16:creationId xmlns:a16="http://schemas.microsoft.com/office/drawing/2014/main" id="{64A3E794-CD45-BC53-1324-7593BAC98844}"/>
                </a:ext>
              </a:extLst>
            </p:cNvPr>
            <p:cNvCxnSpPr>
              <a:cxnSpLocks/>
            </p:cNvCxnSpPr>
            <p:nvPr/>
          </p:nvCxnSpPr>
          <p:spPr>
            <a:xfrm>
              <a:off x="1783080" y="3749040"/>
              <a:ext cx="9628560" cy="0"/>
            </a:xfrm>
            <a:prstGeom prst="straightConnector1">
              <a:avLst/>
            </a:prstGeom>
            <a:noFill/>
            <a:ln w="9525" cap="flat" cmpd="sng">
              <a:solidFill>
                <a:srgbClr val="C7D2E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14">
              <a:extLst>
                <a:ext uri="{FF2B5EF4-FFF2-40B4-BE49-F238E27FC236}">
                  <a16:creationId xmlns:a16="http://schemas.microsoft.com/office/drawing/2014/main" id="{B9954DFD-5B73-23D6-8636-6D3E9F4BB05C}"/>
                </a:ext>
              </a:extLst>
            </p:cNvPr>
            <p:cNvCxnSpPr>
              <a:cxnSpLocks/>
            </p:cNvCxnSpPr>
            <p:nvPr/>
          </p:nvCxnSpPr>
          <p:spPr>
            <a:xfrm>
              <a:off x="777240" y="4247388"/>
              <a:ext cx="10634240" cy="0"/>
            </a:xfrm>
            <a:prstGeom prst="straightConnector1">
              <a:avLst/>
            </a:prstGeom>
            <a:noFill/>
            <a:ln w="7150" cap="flat" cmpd="sng">
              <a:solidFill>
                <a:srgbClr val="E1E7F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14">
              <a:extLst>
                <a:ext uri="{FF2B5EF4-FFF2-40B4-BE49-F238E27FC236}">
                  <a16:creationId xmlns:a16="http://schemas.microsoft.com/office/drawing/2014/main" id="{380C22A8-897E-1237-2EA2-2F8C3E680F6C}"/>
                </a:ext>
              </a:extLst>
            </p:cNvPr>
            <p:cNvCxnSpPr>
              <a:cxnSpLocks/>
            </p:cNvCxnSpPr>
            <p:nvPr/>
          </p:nvCxnSpPr>
          <p:spPr>
            <a:xfrm>
              <a:off x="1783080" y="4745736"/>
              <a:ext cx="9628560" cy="0"/>
            </a:xfrm>
            <a:prstGeom prst="straightConnector1">
              <a:avLst/>
            </a:prstGeom>
            <a:noFill/>
            <a:ln w="9525" cap="flat" cmpd="sng">
              <a:solidFill>
                <a:srgbClr val="C7D2E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14">
              <a:extLst>
                <a:ext uri="{FF2B5EF4-FFF2-40B4-BE49-F238E27FC236}">
                  <a16:creationId xmlns:a16="http://schemas.microsoft.com/office/drawing/2014/main" id="{7B5930A2-AB06-2F68-3518-3BC799F0F95E}"/>
                </a:ext>
              </a:extLst>
            </p:cNvPr>
            <p:cNvCxnSpPr>
              <a:cxnSpLocks/>
            </p:cNvCxnSpPr>
            <p:nvPr/>
          </p:nvCxnSpPr>
          <p:spPr>
            <a:xfrm>
              <a:off x="1783080" y="5244084"/>
              <a:ext cx="9628560" cy="0"/>
            </a:xfrm>
            <a:prstGeom prst="straightConnector1">
              <a:avLst/>
            </a:prstGeom>
            <a:noFill/>
            <a:ln w="9525" cap="flat" cmpd="sng">
              <a:solidFill>
                <a:srgbClr val="C7D2E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4" name="Google Shape;94;p14">
              <a:extLst>
                <a:ext uri="{FF2B5EF4-FFF2-40B4-BE49-F238E27FC236}">
                  <a16:creationId xmlns:a16="http://schemas.microsoft.com/office/drawing/2014/main" id="{4AB81497-3594-7F49-242B-FDBD1CA5C761}"/>
                </a:ext>
              </a:extLst>
            </p:cNvPr>
            <p:cNvSpPr/>
            <p:nvPr/>
          </p:nvSpPr>
          <p:spPr>
            <a:xfrm>
              <a:off x="795528" y="1755648"/>
              <a:ext cx="914400" cy="99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700"/>
              </a:pPr>
              <a:r>
                <a:rPr lang="en-US" altLang="ko-KR" sz="933" b="1" dirty="0">
                  <a:solidFill>
                    <a:srgbClr val="2EC4B6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AI, LLM </a:t>
              </a:r>
              <a:r>
                <a:rPr lang="ko-KR" altLang="en-US" sz="933" b="1" dirty="0">
                  <a:solidFill>
                    <a:srgbClr val="2EC4B6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개발</a:t>
              </a:r>
              <a:endParaRPr lang="ko-KR" altLang="en-US" sz="933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4">
              <a:extLst>
                <a:ext uri="{FF2B5EF4-FFF2-40B4-BE49-F238E27FC236}">
                  <a16:creationId xmlns:a16="http://schemas.microsoft.com/office/drawing/2014/main" id="{028969C5-C44A-30FA-E7B0-04CDA1A19135}"/>
                </a:ext>
              </a:extLst>
            </p:cNvPr>
            <p:cNvSpPr/>
            <p:nvPr/>
          </p:nvSpPr>
          <p:spPr>
            <a:xfrm>
              <a:off x="795528" y="3041211"/>
              <a:ext cx="914400" cy="99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700"/>
              </a:pPr>
              <a:r>
                <a:rPr lang="ko-KR" altLang="en-US" sz="933" b="1" dirty="0" err="1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프론트엔드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4">
              <a:extLst>
                <a:ext uri="{FF2B5EF4-FFF2-40B4-BE49-F238E27FC236}">
                  <a16:creationId xmlns:a16="http://schemas.microsoft.com/office/drawing/2014/main" id="{DA480DC7-C1D5-7F2F-0211-5151AD93AA4A}"/>
                </a:ext>
              </a:extLst>
            </p:cNvPr>
            <p:cNvSpPr/>
            <p:nvPr/>
          </p:nvSpPr>
          <p:spPr>
            <a:xfrm>
              <a:off x="795528" y="4516994"/>
              <a:ext cx="914400" cy="99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2EC4B6"/>
                </a:buClr>
                <a:buSzPts val="700"/>
              </a:pPr>
              <a:r>
                <a:rPr lang="ko-KR" altLang="en-US" sz="933" b="1" dirty="0">
                  <a:solidFill>
                    <a:srgbClr val="2EC4B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통합 및 완결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4">
              <a:extLst>
                <a:ext uri="{FF2B5EF4-FFF2-40B4-BE49-F238E27FC236}">
                  <a16:creationId xmlns:a16="http://schemas.microsoft.com/office/drawing/2014/main" id="{FE5C3A63-D615-2BA6-36C1-4ACE31ED4752}"/>
                </a:ext>
              </a:extLst>
            </p:cNvPr>
            <p:cNvSpPr/>
            <p:nvPr/>
          </p:nvSpPr>
          <p:spPr>
            <a:xfrm>
              <a:off x="1911096" y="1755648"/>
              <a:ext cx="2158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en-US" altLang="ko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SOAP 생성 파운데이션 모델 선정 및 파인튜닝(POC)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4">
              <a:extLst>
                <a:ext uri="{FF2B5EF4-FFF2-40B4-BE49-F238E27FC236}">
                  <a16:creationId xmlns:a16="http://schemas.microsoft.com/office/drawing/2014/main" id="{A05E30F8-407A-0D80-DBB4-4C8D053964BB}"/>
                </a:ext>
              </a:extLst>
            </p:cNvPr>
            <p:cNvSpPr/>
            <p:nvPr/>
          </p:nvSpPr>
          <p:spPr>
            <a:xfrm>
              <a:off x="4069080" y="1755648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박정영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4">
              <a:extLst>
                <a:ext uri="{FF2B5EF4-FFF2-40B4-BE49-F238E27FC236}">
                  <a16:creationId xmlns:a16="http://schemas.microsoft.com/office/drawing/2014/main" id="{BF4C86D5-2B0F-3EC6-F7B0-21F426EE9233}"/>
                </a:ext>
              </a:extLst>
            </p:cNvPr>
            <p:cNvSpPr/>
            <p:nvPr/>
          </p:nvSpPr>
          <p:spPr>
            <a:xfrm>
              <a:off x="1911096" y="2253996"/>
              <a:ext cx="20664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ko-KR" altLang="en-US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SOAP 저장 구조 및 AI 검색 기능 연동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4">
              <a:extLst>
                <a:ext uri="{FF2B5EF4-FFF2-40B4-BE49-F238E27FC236}">
                  <a16:creationId xmlns:a16="http://schemas.microsoft.com/office/drawing/2014/main" id="{2B5E8ED8-F500-A7F4-5F8E-64A9B2F8D27B}"/>
                </a:ext>
              </a:extLst>
            </p:cNvPr>
            <p:cNvSpPr/>
            <p:nvPr/>
          </p:nvSpPr>
          <p:spPr>
            <a:xfrm>
              <a:off x="4069080" y="2253996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박정영 / 김보경</a:t>
              </a:r>
              <a:endParaRPr lang="ko-KR" altLang="en-US" sz="933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4">
              <a:extLst>
                <a:ext uri="{FF2B5EF4-FFF2-40B4-BE49-F238E27FC236}">
                  <a16:creationId xmlns:a16="http://schemas.microsoft.com/office/drawing/2014/main" id="{90D3F6A6-84DF-417F-369C-8F7BB4D7720B}"/>
                </a:ext>
              </a:extLst>
            </p:cNvPr>
            <p:cNvSpPr/>
            <p:nvPr/>
          </p:nvSpPr>
          <p:spPr>
            <a:xfrm>
              <a:off x="1911096" y="2752344"/>
              <a:ext cx="20664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ko-KR" altLang="en-US" sz="1067" dirty="0" err="1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음성 업로드·녹음 화면 UI 구현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4">
              <a:extLst>
                <a:ext uri="{FF2B5EF4-FFF2-40B4-BE49-F238E27FC236}">
                  <a16:creationId xmlns:a16="http://schemas.microsoft.com/office/drawing/2014/main" id="{89177A85-4018-AF2B-D94D-4F96A7FB02CC}"/>
                </a:ext>
              </a:extLst>
            </p:cNvPr>
            <p:cNvSpPr/>
            <p:nvPr/>
          </p:nvSpPr>
          <p:spPr>
            <a:xfrm>
              <a:off x="4069080" y="2752344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김민주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54FA7A85-12DF-78F8-6A13-B9EEEC0602F6}"/>
                </a:ext>
              </a:extLst>
            </p:cNvPr>
            <p:cNvSpPr/>
            <p:nvPr/>
          </p:nvSpPr>
          <p:spPr>
            <a:xfrm>
              <a:off x="1911096" y="3250692"/>
              <a:ext cx="20664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ko-KR" altLang="en-US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SOAP 문서 조회·수정 대시보드 UI 구현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F4E600C8-1280-F164-B9B3-577666D78F90}"/>
                </a:ext>
              </a:extLst>
            </p:cNvPr>
            <p:cNvSpPr/>
            <p:nvPr/>
          </p:nvSpPr>
          <p:spPr>
            <a:xfrm>
              <a:off x="4069080" y="3250692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김민주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4">
              <a:extLst>
                <a:ext uri="{FF2B5EF4-FFF2-40B4-BE49-F238E27FC236}">
                  <a16:creationId xmlns:a16="http://schemas.microsoft.com/office/drawing/2014/main" id="{EBDD70D3-4D0F-B32E-907B-32807F40ABF7}"/>
                </a:ext>
              </a:extLst>
            </p:cNvPr>
            <p:cNvSpPr/>
            <p:nvPr/>
          </p:nvSpPr>
          <p:spPr>
            <a:xfrm>
              <a:off x="1911100" y="3749051"/>
              <a:ext cx="21912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en-US" altLang="ko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화자분리 결과 확인 화면 UI 구현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3A321358-8065-1527-806D-C86A95A23D71}"/>
                </a:ext>
              </a:extLst>
            </p:cNvPr>
            <p:cNvSpPr/>
            <p:nvPr/>
          </p:nvSpPr>
          <p:spPr>
            <a:xfrm>
              <a:off x="4069080" y="3749040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김민주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A0BE67BA-B8B2-8426-A7C6-B3F647FE4FE9}"/>
                </a:ext>
              </a:extLst>
            </p:cNvPr>
            <p:cNvSpPr/>
            <p:nvPr/>
          </p:nvSpPr>
          <p:spPr>
            <a:xfrm>
              <a:off x="1911096" y="4247388"/>
              <a:ext cx="20664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en-US" altLang="ko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 시스템 E2E 연동 및 테스트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C41B900E-6B1D-7BF0-C179-A7B4B9C79A7E}"/>
                </a:ext>
              </a:extLst>
            </p:cNvPr>
            <p:cNvSpPr/>
            <p:nvPr/>
          </p:nvSpPr>
          <p:spPr>
            <a:xfrm>
              <a:off x="4069080" y="4247388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팀원 전체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4">
              <a:extLst>
                <a:ext uri="{FF2B5EF4-FFF2-40B4-BE49-F238E27FC236}">
                  <a16:creationId xmlns:a16="http://schemas.microsoft.com/office/drawing/2014/main" id="{23CED040-7615-6F3B-50C1-450F50D72910}"/>
                </a:ext>
              </a:extLst>
            </p:cNvPr>
            <p:cNvSpPr/>
            <p:nvPr/>
          </p:nvSpPr>
          <p:spPr>
            <a:xfrm>
              <a:off x="1911096" y="4745736"/>
              <a:ext cx="20664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ko-KR" altLang="en-US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STT 정확도 및 SOAP 품질 검증, 성능 최적화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4">
              <a:extLst>
                <a:ext uri="{FF2B5EF4-FFF2-40B4-BE49-F238E27FC236}">
                  <a16:creationId xmlns:a16="http://schemas.microsoft.com/office/drawing/2014/main" id="{7E4BDAE5-B292-C7F9-0E0F-D92749DA23D8}"/>
                </a:ext>
              </a:extLst>
            </p:cNvPr>
            <p:cNvSpPr/>
            <p:nvPr/>
          </p:nvSpPr>
          <p:spPr>
            <a:xfrm>
              <a:off x="4069080" y="4745736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-KR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박정영 / 전체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4">
              <a:extLst>
                <a:ext uri="{FF2B5EF4-FFF2-40B4-BE49-F238E27FC236}">
                  <a16:creationId xmlns:a16="http://schemas.microsoft.com/office/drawing/2014/main" id="{AA6995CC-7189-8CA1-3591-5415BB30219C}"/>
                </a:ext>
              </a:extLst>
            </p:cNvPr>
            <p:cNvSpPr/>
            <p:nvPr/>
          </p:nvSpPr>
          <p:spPr>
            <a:xfrm>
              <a:off x="1911096" y="5244084"/>
              <a:ext cx="20664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6BF"/>
                </a:buClr>
                <a:buSzPts val="800"/>
              </a:pPr>
              <a:r>
                <a:rPr lang="ko-KR" altLang="en-US" sz="1067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버그 수정, 최종 시연 준비 및 발표 자료 제작</a:t>
              </a:r>
              <a:endParaRPr sz="10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4">
              <a:extLst>
                <a:ext uri="{FF2B5EF4-FFF2-40B4-BE49-F238E27FC236}">
                  <a16:creationId xmlns:a16="http://schemas.microsoft.com/office/drawing/2014/main" id="{0CE307BA-31BC-BF90-29CF-73DC84EE247E}"/>
                </a:ext>
              </a:extLst>
            </p:cNvPr>
            <p:cNvSpPr/>
            <p:nvPr/>
          </p:nvSpPr>
          <p:spPr>
            <a:xfrm>
              <a:off x="4069080" y="5244084"/>
              <a:ext cx="1006000" cy="4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9AA6BF"/>
                </a:buClr>
                <a:buSzPts val="700"/>
              </a:pPr>
              <a:r>
                <a:rPr lang="ko" altLang="en-US" sz="933" dirty="0">
                  <a:solidFill>
                    <a:srgbClr val="9AA6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조요한 / 전체</a:t>
              </a:r>
              <a:endParaRPr sz="9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4">
              <a:extLst>
                <a:ext uri="{FF2B5EF4-FFF2-40B4-BE49-F238E27FC236}">
                  <a16:creationId xmlns:a16="http://schemas.microsoft.com/office/drawing/2014/main" id="{3147AA1F-A755-3CD9-8D2E-D3AEEE02184B}"/>
                </a:ext>
              </a:extLst>
            </p:cNvPr>
            <p:cNvSpPr/>
            <p:nvPr/>
          </p:nvSpPr>
          <p:spPr>
            <a:xfrm>
              <a:off x="777240" y="6126480"/>
              <a:ext cx="411600" cy="1464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>
              <a:extLst>
                <a:ext uri="{FF2B5EF4-FFF2-40B4-BE49-F238E27FC236}">
                  <a16:creationId xmlns:a16="http://schemas.microsoft.com/office/drawing/2014/main" id="{D2E16F68-0E14-5E35-8CD7-EA2877033ECA}"/>
                </a:ext>
              </a:extLst>
            </p:cNvPr>
            <p:cNvSpPr/>
            <p:nvPr/>
          </p:nvSpPr>
          <p:spPr>
            <a:xfrm>
              <a:off x="1280160" y="6089904"/>
              <a:ext cx="1006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5C6579"/>
                </a:buClr>
                <a:buSzPts val="700"/>
              </a:pPr>
              <a:r>
                <a:rPr lang="ko" altLang="en-US" sz="933">
                  <a:solidFill>
                    <a:srgbClr val="5C657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수행 기간</a:t>
              </a:r>
              <a:endParaRPr sz="9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4">
              <a:extLst>
                <a:ext uri="{FF2B5EF4-FFF2-40B4-BE49-F238E27FC236}">
                  <a16:creationId xmlns:a16="http://schemas.microsoft.com/office/drawing/2014/main" id="{B06A924C-DAF9-4313-3CFA-86E4083F0386}"/>
                </a:ext>
              </a:extLst>
            </p:cNvPr>
            <p:cNvSpPr/>
            <p:nvPr/>
          </p:nvSpPr>
          <p:spPr>
            <a:xfrm>
              <a:off x="2377440" y="6126480"/>
              <a:ext cx="146400" cy="146400"/>
            </a:xfrm>
            <a:prstGeom prst="diamond">
              <a:avLst/>
            </a:prstGeom>
            <a:solidFill>
              <a:srgbClr val="1B2A57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4">
              <a:extLst>
                <a:ext uri="{FF2B5EF4-FFF2-40B4-BE49-F238E27FC236}">
                  <a16:creationId xmlns:a16="http://schemas.microsoft.com/office/drawing/2014/main" id="{8E66ECA1-4778-F30A-B5E3-B85380196563}"/>
                </a:ext>
              </a:extLst>
            </p:cNvPr>
            <p:cNvSpPr/>
            <p:nvPr/>
          </p:nvSpPr>
          <p:spPr>
            <a:xfrm>
              <a:off x="2615184" y="6089904"/>
              <a:ext cx="1006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5C6579"/>
                </a:buClr>
                <a:buSzPts val="700"/>
              </a:pPr>
              <a:r>
                <a:rPr lang="ko" altLang="en-US" sz="933">
                  <a:solidFill>
                    <a:srgbClr val="5C657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마일스톤</a:t>
              </a:r>
              <a:endParaRPr sz="9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4">
              <a:extLst>
                <a:ext uri="{FF2B5EF4-FFF2-40B4-BE49-F238E27FC236}">
                  <a16:creationId xmlns:a16="http://schemas.microsoft.com/office/drawing/2014/main" id="{1E7F7B4E-BE95-F7FF-BE21-12101F32ADAB}"/>
                </a:ext>
              </a:extLst>
            </p:cNvPr>
            <p:cNvSpPr/>
            <p:nvPr/>
          </p:nvSpPr>
          <p:spPr>
            <a:xfrm>
              <a:off x="6661217" y="1876875"/>
              <a:ext cx="2371914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4">
              <a:extLst>
                <a:ext uri="{FF2B5EF4-FFF2-40B4-BE49-F238E27FC236}">
                  <a16:creationId xmlns:a16="http://schemas.microsoft.com/office/drawing/2014/main" id="{D33003D3-6A95-3FA6-5082-6453F5099274}"/>
                </a:ext>
              </a:extLst>
            </p:cNvPr>
            <p:cNvSpPr/>
            <p:nvPr/>
          </p:nvSpPr>
          <p:spPr>
            <a:xfrm>
              <a:off x="7459096" y="2375225"/>
              <a:ext cx="1582000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4">
              <a:extLst>
                <a:ext uri="{FF2B5EF4-FFF2-40B4-BE49-F238E27FC236}">
                  <a16:creationId xmlns:a16="http://schemas.microsoft.com/office/drawing/2014/main" id="{8756E7AE-EA08-4AE6-647A-49DDB8675154}"/>
                </a:ext>
              </a:extLst>
            </p:cNvPr>
            <p:cNvSpPr/>
            <p:nvPr/>
          </p:nvSpPr>
          <p:spPr>
            <a:xfrm>
              <a:off x="5876994" y="2873575"/>
              <a:ext cx="2376400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4">
              <a:extLst>
                <a:ext uri="{FF2B5EF4-FFF2-40B4-BE49-F238E27FC236}">
                  <a16:creationId xmlns:a16="http://schemas.microsoft.com/office/drawing/2014/main" id="{4B1A53AF-32C1-A5B0-4454-87BF29BC4FBC}"/>
                </a:ext>
              </a:extLst>
            </p:cNvPr>
            <p:cNvSpPr/>
            <p:nvPr/>
          </p:nvSpPr>
          <p:spPr>
            <a:xfrm>
              <a:off x="6668096" y="3371925"/>
              <a:ext cx="2399179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4">
              <a:extLst>
                <a:ext uri="{FF2B5EF4-FFF2-40B4-BE49-F238E27FC236}">
                  <a16:creationId xmlns:a16="http://schemas.microsoft.com/office/drawing/2014/main" id="{19232506-A195-1062-C44A-BEE606CC02D2}"/>
                </a:ext>
              </a:extLst>
            </p:cNvPr>
            <p:cNvSpPr/>
            <p:nvPr/>
          </p:nvSpPr>
          <p:spPr>
            <a:xfrm>
              <a:off x="7459096" y="3870275"/>
              <a:ext cx="2368529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>
              <a:extLst>
                <a:ext uri="{FF2B5EF4-FFF2-40B4-BE49-F238E27FC236}">
                  <a16:creationId xmlns:a16="http://schemas.microsoft.com/office/drawing/2014/main" id="{99B21A76-4F32-4E1E-13E7-502D7F7244A0}"/>
                </a:ext>
              </a:extLst>
            </p:cNvPr>
            <p:cNvSpPr/>
            <p:nvPr/>
          </p:nvSpPr>
          <p:spPr>
            <a:xfrm>
              <a:off x="8250096" y="4368625"/>
              <a:ext cx="1582000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4">
              <a:extLst>
                <a:ext uri="{FF2B5EF4-FFF2-40B4-BE49-F238E27FC236}">
                  <a16:creationId xmlns:a16="http://schemas.microsoft.com/office/drawing/2014/main" id="{90ABB3B2-023F-8B12-03B7-27A989752A07}"/>
                </a:ext>
              </a:extLst>
            </p:cNvPr>
            <p:cNvSpPr/>
            <p:nvPr/>
          </p:nvSpPr>
          <p:spPr>
            <a:xfrm>
              <a:off x="9036563" y="4866951"/>
              <a:ext cx="1582000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4">
              <a:extLst>
                <a:ext uri="{FF2B5EF4-FFF2-40B4-BE49-F238E27FC236}">
                  <a16:creationId xmlns:a16="http://schemas.microsoft.com/office/drawing/2014/main" id="{F9CF8E27-53E5-A90F-893B-5BCFF9913245}"/>
                </a:ext>
              </a:extLst>
            </p:cNvPr>
            <p:cNvSpPr/>
            <p:nvPr/>
          </p:nvSpPr>
          <p:spPr>
            <a:xfrm>
              <a:off x="9829800" y="5365300"/>
              <a:ext cx="1582000" cy="256000"/>
            </a:xfrm>
            <a:prstGeom prst="roundRect">
              <a:avLst>
                <a:gd name="adj" fmla="val 50000"/>
              </a:avLst>
            </a:prstGeom>
            <a:solidFill>
              <a:srgbClr val="2EC4B6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4">
              <a:extLst>
                <a:ext uri="{FF2B5EF4-FFF2-40B4-BE49-F238E27FC236}">
                  <a16:creationId xmlns:a16="http://schemas.microsoft.com/office/drawing/2014/main" id="{8C5CA07B-0868-2962-2243-7C9437D6B598}"/>
                </a:ext>
              </a:extLst>
            </p:cNvPr>
            <p:cNvSpPr/>
            <p:nvPr/>
          </p:nvSpPr>
          <p:spPr>
            <a:xfrm>
              <a:off x="8802355" y="1931631"/>
              <a:ext cx="146400" cy="146400"/>
            </a:xfrm>
            <a:prstGeom prst="diamond">
              <a:avLst/>
            </a:prstGeom>
            <a:solidFill>
              <a:srgbClr val="1B2A57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>
              <a:extLst>
                <a:ext uri="{FF2B5EF4-FFF2-40B4-BE49-F238E27FC236}">
                  <a16:creationId xmlns:a16="http://schemas.microsoft.com/office/drawing/2014/main" id="{BF1EDAB0-0D63-56D8-8CC2-AF17B7F8C46E}"/>
                </a:ext>
              </a:extLst>
            </p:cNvPr>
            <p:cNvSpPr/>
            <p:nvPr/>
          </p:nvSpPr>
          <p:spPr>
            <a:xfrm>
              <a:off x="8740165" y="3426680"/>
              <a:ext cx="146400" cy="146400"/>
            </a:xfrm>
            <a:prstGeom prst="diamond">
              <a:avLst/>
            </a:prstGeom>
            <a:solidFill>
              <a:srgbClr val="1B2A57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4">
              <a:extLst>
                <a:ext uri="{FF2B5EF4-FFF2-40B4-BE49-F238E27FC236}">
                  <a16:creationId xmlns:a16="http://schemas.microsoft.com/office/drawing/2014/main" id="{AC65A017-B754-2AFC-8882-4B487F7D933F}"/>
                </a:ext>
              </a:extLst>
            </p:cNvPr>
            <p:cNvSpPr/>
            <p:nvPr/>
          </p:nvSpPr>
          <p:spPr>
            <a:xfrm>
              <a:off x="9496811" y="4423368"/>
              <a:ext cx="146400" cy="146400"/>
            </a:xfrm>
            <a:prstGeom prst="diamond">
              <a:avLst/>
            </a:prstGeom>
            <a:solidFill>
              <a:srgbClr val="1B2A57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4">
              <a:extLst>
                <a:ext uri="{FF2B5EF4-FFF2-40B4-BE49-F238E27FC236}">
                  <a16:creationId xmlns:a16="http://schemas.microsoft.com/office/drawing/2014/main" id="{7636B1AF-89B6-B2D8-97C6-9D0E16A69F17}"/>
                </a:ext>
              </a:extLst>
            </p:cNvPr>
            <p:cNvSpPr/>
            <p:nvPr/>
          </p:nvSpPr>
          <p:spPr>
            <a:xfrm>
              <a:off x="10275365" y="4921692"/>
              <a:ext cx="146400" cy="146400"/>
            </a:xfrm>
            <a:prstGeom prst="diamond">
              <a:avLst/>
            </a:prstGeom>
            <a:solidFill>
              <a:srgbClr val="1B2A57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4">
              <a:extLst>
                <a:ext uri="{FF2B5EF4-FFF2-40B4-BE49-F238E27FC236}">
                  <a16:creationId xmlns:a16="http://schemas.microsoft.com/office/drawing/2014/main" id="{18D40F66-F03A-7E04-C33F-C8E68E3F5455}"/>
                </a:ext>
              </a:extLst>
            </p:cNvPr>
            <p:cNvSpPr/>
            <p:nvPr/>
          </p:nvSpPr>
          <p:spPr>
            <a:xfrm>
              <a:off x="11091991" y="5420043"/>
              <a:ext cx="146400" cy="146400"/>
            </a:xfrm>
            <a:prstGeom prst="diamond">
              <a:avLst/>
            </a:prstGeom>
            <a:solidFill>
              <a:srgbClr val="1B2A57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4869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DELIVERABLES &amp;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목표 &amp; 수행 방법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5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단계별 산출물의 완료 기준(Definition of Done)과 팀의 수행 방식을 구체적으로 작성하세요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104120" y="384048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E078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104120" y="384048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작성용 양식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1293" y="1325880"/>
            <a:ext cx="7534957" cy="546354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목표  </a:t>
            </a:r>
            <a:r>
              <a:rPr lang="en-US" sz="10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562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· 완료 시점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41552" y="18562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 (Definition of Done)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2112264"/>
            <a:ext cx="6355080" cy="0"/>
          </a:xfrm>
          <a:prstGeom prst="line">
            <a:avLst/>
          </a:prstGeom>
          <a:noFill/>
          <a:ln w="12700">
            <a:solidFill>
              <a:srgbClr val="C7D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160396"/>
            <a:ext cx="2331720" cy="49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요구사항 정의서 ]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경쟁 서비스 분석 리포트 ]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아키텍처·기술스택 설계안 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451083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</a:t>
            </a:r>
            <a:r>
              <a:rPr lang="en-US" altLang="ko-KR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r>
              <a:rPr lang="ko-KR" alt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말</a:t>
            </a:r>
            <a:r>
              <a:rPr 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41552" y="21762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핵심 기능·유저 시나리오 문서화, 팀원 전원 검토·합의 완료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국내 유사 서비스 사용 후 장단점 정리, 차별화 포인트 도출 완료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서버·서빙 환경 및 RDB/NoSQL/Vector DB 구조 초안 확정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725403"/>
            <a:ext cx="6355080" cy="0"/>
          </a:xfrm>
          <a:prstGeom prst="line">
            <a:avLst/>
          </a:prstGeom>
          <a:noFill/>
          <a:ln w="635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777240" y="3835131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화면설계서 · API 명세서 ]</a:t>
            </a: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화자분리 · STT 파이프라인 ]</a:t>
            </a: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SOAP 생성 POC 결과 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15951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</a:t>
            </a:r>
            <a:r>
              <a:rPr lang="en-US" altLang="ko-KR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r>
              <a:rPr lang="ko-KR" alt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말</a:t>
            </a:r>
            <a:r>
              <a:rPr 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41552" y="3835131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전체 화면 흐름 확정, API 요청·응답 형식 정의 완료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pyannote.audio 기반 화자분리 및 STT 변환 파이프라인 정상 동작 확인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파운데이션 모델 선정 및 1차 파인튜닝 결과 확보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77240" y="5433838"/>
            <a:ext cx="6355080" cy="0"/>
          </a:xfrm>
          <a:prstGeom prst="line">
            <a:avLst/>
          </a:prstGeom>
          <a:noFill/>
          <a:ln w="635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77240" y="5543566"/>
            <a:ext cx="28117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화자분리·STT 모듈 ]</a:t>
            </a: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SOAP 생성 로직 ]</a:t>
            </a: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SOAP 저장·관리 기능 ]</a:t>
            </a: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핵심 기능 MVP 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41551" y="5543566"/>
            <a:ext cx="452099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pyannote.audio 기반 화자분리 및 STT 변환 파이프라인 정상 동작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LLM 기반 SOAP 자동 요약 로직 구현 및 1차 검증 완료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생성된 SOAP 문서 DB 저장 및 AI 검색 기능 1차 구현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화자분리→STT→SOAP생성→저장 전체 플로우 100% 동작, 주요 시나리오 시연 가능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78390" y="1325880"/>
            <a:ext cx="3863035" cy="5463540"/>
          </a:xfrm>
          <a:prstGeom prst="roundRect">
            <a:avLst>
              <a:gd name="adj" fmla="val 2256"/>
            </a:avLst>
          </a:prstGeom>
          <a:solidFill>
            <a:srgbClr val="1B2A57"/>
          </a:solidFill>
          <a:ln/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 30"/>
          <p:cNvSpPr/>
          <p:nvPr/>
        </p:nvSpPr>
        <p:spPr>
          <a:xfrm>
            <a:off x="8454678" y="149047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방법  </a:t>
            </a:r>
            <a:r>
              <a:rPr lang="en-US" sz="10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4678" y="1984248"/>
            <a:ext cx="34683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도구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54678" y="2240280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2000" lvl="0"/>
            <a:r>
              <a:rPr lang="ko-KR" altLang="ko-KR" sz="1000" b="1" dirty="0" err="1">
                <a:solidFill>
                  <a:schemeClr val="bg1"/>
                </a:solidFill>
              </a:rPr>
              <a:t>GitHub : 코드 형상관리 및 협업          구글 드라이브 : 회의록·자료 공유</a:t>
            </a:r>
          </a:p>
          <a:p>
            <a:pPr marL="72000" lvl="0"/>
            <a:r>
              <a:rPr lang="ko-KR" altLang="ko-KR" sz="1000" b="1" dirty="0" err="1">
                <a:solidFill>
                  <a:schemeClr val="bg1"/>
                </a:solidFill>
              </a:rPr>
              <a:t>Figma : UI/UX 디자인</a:t>
            </a:r>
          </a:p>
          <a:p>
            <a:pPr marL="72000" lvl="0"/>
            <a:r>
              <a:rPr lang="ko-KR" altLang="ko-KR" sz="1000" b="1" dirty="0" err="1">
                <a:solidFill>
                  <a:schemeClr val="bg1"/>
                </a:solidFill>
              </a:rPr>
              <a:t>Figma</a:t>
            </a:r>
            <a:r>
              <a:rPr lang="ko-KR" altLang="ko-KR" sz="1000" dirty="0">
                <a:solidFill>
                  <a:schemeClr val="bg1"/>
                </a:solidFill>
              </a:rPr>
              <a:t> : UI 설계</a:t>
            </a:r>
          </a:p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54678" y="2916936"/>
            <a:ext cx="3468319" cy="0"/>
          </a:xfrm>
          <a:prstGeom prst="line">
            <a:avLst/>
          </a:prstGeom>
          <a:noFill/>
          <a:ln w="9525">
            <a:solidFill>
              <a:srgbClr val="3343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454678" y="3026664"/>
            <a:ext cx="34683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소통 방식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454678" y="3282696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54678" y="3959352"/>
            <a:ext cx="3468319" cy="0"/>
          </a:xfrm>
          <a:prstGeom prst="line">
            <a:avLst/>
          </a:prstGeom>
          <a:noFill/>
          <a:ln w="9525">
            <a:solidFill>
              <a:srgbClr val="3343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454678" y="4069080"/>
            <a:ext cx="34683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방식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454678" y="4325112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ko-KR" altLang="ko-KR" sz="1000" dirty="0">
                <a:solidFill>
                  <a:schemeClr val="bg1"/>
                </a:solidFill>
              </a:rPr>
              <a:t>기능 단위 브랜치 생성                     PR 후 코드 리뷰 진행</a:t>
            </a:r>
          </a:p>
          <a:p>
            <a:pPr lvl="0">
              <a:lnSpc>
                <a:spcPct val="150000"/>
              </a:lnSpc>
            </a:pPr>
            <a:r>
              <a:rPr lang="ko-KR" altLang="ko-KR" sz="1000" dirty="0">
                <a:solidFill>
                  <a:schemeClr val="bg1"/>
                </a:solidFill>
              </a:rPr>
              <a:t>코드 리뷰 승인 후 Merge</a:t>
            </a:r>
          </a:p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454678" y="5001768"/>
            <a:ext cx="3468319" cy="0"/>
          </a:xfrm>
          <a:prstGeom prst="line">
            <a:avLst/>
          </a:prstGeom>
          <a:noFill/>
          <a:ln w="9525">
            <a:solidFill>
              <a:srgbClr val="3343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454678" y="5111496"/>
            <a:ext cx="34683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관리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454678" y="5367528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ko-KR" altLang="ko-KR" sz="1000" dirty="0">
                <a:solidFill>
                  <a:schemeClr val="bg1"/>
                </a:solidFill>
              </a:rPr>
              <a:t>테스트 체크리스트 기반 검증               버그는 이슈로 등록·추적</a:t>
            </a:r>
          </a:p>
          <a:p>
            <a:pPr lvl="0">
              <a:lnSpc>
                <a:spcPct val="150000"/>
              </a:lnSpc>
            </a:pPr>
            <a:r>
              <a:rPr lang="ko-KR" altLang="ko-KR" sz="1000" dirty="0">
                <a:solidFill>
                  <a:schemeClr val="bg1"/>
                </a:solidFill>
              </a:rPr>
              <a:t>치명적 결함 0건을 목표로 통합 테스트 수행</a:t>
            </a:r>
          </a:p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1EA8A8-F2C4-C592-6484-2D4E71E27F16}"/>
              </a:ext>
            </a:extLst>
          </p:cNvPr>
          <p:cNvSpPr txBox="1"/>
          <p:nvPr/>
        </p:nvSpPr>
        <p:spPr>
          <a:xfrm>
            <a:off x="8515130" y="3264408"/>
            <a:ext cx="3414217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ko-KR" sz="1100" b="1" dirty="0">
                <a:solidFill>
                  <a:schemeClr val="bg1"/>
                </a:solidFill>
              </a:rPr>
              <a:t>데일리 스크럼 : 매일 오전 10:00, 15분간 진행 상황·블로커 공유</a:t>
            </a:r>
          </a:p>
          <a:p>
            <a:pPr lvl="0">
              <a:lnSpc>
                <a:spcPct val="150000"/>
              </a:lnSpc>
            </a:pPr>
            <a:r>
              <a:rPr lang="ko-KR" altLang="ko-KR" sz="1100" b="1" dirty="0">
                <a:solidFill>
                  <a:schemeClr val="bg1"/>
                </a:solidFill>
              </a:rPr>
              <a:t>주요 회의 내용은 정리 후 구글 드라이브에 전체 공유</a:t>
            </a:r>
          </a:p>
          <a:p>
            <a:endParaRPr kumimoji="1"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66539-BB76-D5C7-F106-351D0B13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39DEE8-2CCF-E2E7-A3F4-2439E5708568}"/>
              </a:ext>
            </a:extLst>
          </p:cNvPr>
          <p:cNvSpPr/>
          <p:nvPr/>
        </p:nvSpPr>
        <p:spPr>
          <a:xfrm>
            <a:off x="502920" y="365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DELIVERABLES &amp; METHODS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515052-F4C0-5378-E549-3AACE457F542}"/>
              </a:ext>
            </a:extLst>
          </p:cNvPr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목표 &amp; 수행 방법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367E3E-13FA-BE4A-D855-1AFE476B0B7F}"/>
              </a:ext>
            </a:extLst>
          </p:cNvPr>
          <p:cNvSpPr/>
          <p:nvPr/>
        </p:nvSpPr>
        <p:spPr>
          <a:xfrm>
            <a:off x="502920" y="10058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5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단계별 산출물의 완료 기준(Definition of Done)과 팀의 수행 방식을 구체적으로 작성하세요</a:t>
            </a:r>
            <a:endParaRPr lang="en-US" sz="1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01D1C73-8748-52CC-983C-F7A410A09334}"/>
              </a:ext>
            </a:extLst>
          </p:cNvPr>
          <p:cNvSpPr/>
          <p:nvPr/>
        </p:nvSpPr>
        <p:spPr>
          <a:xfrm>
            <a:off x="10104120" y="384048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E078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15EB9A3-052C-4808-EDB0-28FD1E548927}"/>
              </a:ext>
            </a:extLst>
          </p:cNvPr>
          <p:cNvSpPr/>
          <p:nvPr/>
        </p:nvSpPr>
        <p:spPr>
          <a:xfrm>
            <a:off x="10104120" y="384048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작성용 양식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C295694-E653-F69F-3B67-4098175BE742}"/>
              </a:ext>
            </a:extLst>
          </p:cNvPr>
          <p:cNvSpPr/>
          <p:nvPr/>
        </p:nvSpPr>
        <p:spPr>
          <a:xfrm>
            <a:off x="701293" y="1325880"/>
            <a:ext cx="7534957" cy="546354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263A82-9128-33AA-9E10-689223BBF9F1}"/>
              </a:ext>
            </a:extLst>
          </p:cNvPr>
          <p:cNvSpPr/>
          <p:nvPr/>
        </p:nvSpPr>
        <p:spPr>
          <a:xfrm>
            <a:off x="777240" y="1490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목표  </a:t>
            </a:r>
            <a:r>
              <a:rPr lang="en-US" sz="10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95A7E35-EDF9-3723-9000-A8CBF64B5662}"/>
              </a:ext>
            </a:extLst>
          </p:cNvPr>
          <p:cNvSpPr/>
          <p:nvPr/>
        </p:nvSpPr>
        <p:spPr>
          <a:xfrm>
            <a:off x="777240" y="21396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</a:t>
            </a:r>
            <a:r>
              <a:rPr lang="en-US" altLang="ko-KR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r>
              <a:rPr lang="ko-KR" alt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말</a:t>
            </a:r>
            <a:r>
              <a:rPr 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]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052B1B5-C5F1-B76F-9022-E5722DB0ACAB}"/>
              </a:ext>
            </a:extLst>
          </p:cNvPr>
          <p:cNvSpPr/>
          <p:nvPr/>
        </p:nvSpPr>
        <p:spPr>
          <a:xfrm>
            <a:off x="777240" y="2395728"/>
            <a:ext cx="6355080" cy="0"/>
          </a:xfrm>
          <a:prstGeom prst="line">
            <a:avLst/>
          </a:prstGeom>
          <a:noFill/>
          <a:ln w="635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439D51B-36BA-0788-E834-60D0FBA3A25E}"/>
              </a:ext>
            </a:extLst>
          </p:cNvPr>
          <p:cNvSpPr/>
          <p:nvPr/>
        </p:nvSpPr>
        <p:spPr>
          <a:xfrm>
            <a:off x="777240" y="2462784"/>
            <a:ext cx="2712720" cy="77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프론트엔드 UI 통합 ]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SOAP 검색·조회 기능 고도화 ]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테스트 리포트 ]</a:t>
            </a: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배포 환경 구성 ]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645DEBD-AAE2-72AF-52DC-247087B7D99F}"/>
              </a:ext>
            </a:extLst>
          </p:cNvPr>
          <p:cNvSpPr/>
          <p:nvPr/>
        </p:nvSpPr>
        <p:spPr>
          <a:xfrm>
            <a:off x="777240" y="4624983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</a:t>
            </a:r>
            <a:r>
              <a:rPr lang="en-US" altLang="ko-KR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r>
              <a:rPr lang="ko-KR" alt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말</a:t>
            </a:r>
            <a:r>
              <a:rPr lang="en-US" sz="9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]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C7BF1CE-390B-A59F-8493-EFF8C69D3881}"/>
              </a:ext>
            </a:extLst>
          </p:cNvPr>
          <p:cNvSpPr/>
          <p:nvPr/>
        </p:nvSpPr>
        <p:spPr>
          <a:xfrm>
            <a:off x="3641552" y="2462783"/>
            <a:ext cx="4699866" cy="1156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1000" dirty="0" err="1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음성 업로드, SOAP 조회·수정 화면 등 핵심 화면 UI 구현 완료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AI 기반 SOAP 검색 기능 정상 동작 확인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통합 테스트 결과·버그 조치 내역 기록, 치명적 결함 0건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AWS 환경(투 트랙) 기준 배포 서버 구성 완료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4BD4248-D809-CFC9-25A9-A6DB64D0A560}"/>
              </a:ext>
            </a:extLst>
          </p:cNvPr>
          <p:cNvSpPr/>
          <p:nvPr/>
        </p:nvSpPr>
        <p:spPr>
          <a:xfrm>
            <a:off x="777240" y="4899303"/>
            <a:ext cx="6355080" cy="0"/>
          </a:xfrm>
          <a:prstGeom prst="line">
            <a:avLst/>
          </a:prstGeom>
          <a:noFill/>
          <a:ln w="635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6AFA39F-38DA-53CD-DA67-4B8AF4A75734}"/>
              </a:ext>
            </a:extLst>
          </p:cNvPr>
          <p:cNvSpPr/>
          <p:nvPr/>
        </p:nvSpPr>
        <p:spPr>
          <a:xfrm>
            <a:off x="777240" y="5009031"/>
            <a:ext cx="2331720" cy="727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배포 서비스 · 발표자료 ]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최종 시연 영상 ]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성능 검증 리포트 ]</a:t>
            </a: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[ 최종 발표 자료 ]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F32FF8A-D5A6-69FF-56E0-90DF04AFF564}"/>
              </a:ext>
            </a:extLst>
          </p:cNvPr>
          <p:cNvSpPr/>
          <p:nvPr/>
        </p:nvSpPr>
        <p:spPr>
          <a:xfrm>
            <a:off x="3641552" y="5009030"/>
            <a:ext cx="3931920" cy="841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실제 접속 가능한 배포 URL 확보, 발표 리허설 1회 이상 완료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화자분리→STT→SOAP생성→저장 전체 기능 연동 및 최종 테스트 완료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STT 정확도 100% 목표 달성 여부 및 SOAP 요약 성능 검증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solidFill>
                  <a:srgbClr val="9AA6BF"/>
                </a:solidFill>
                <a:latin typeface="맑은 고딕" pitchFamily="34" charset="0"/>
                <a:ea typeface="맑은 고딕" pitchFamily="34" charset="-122"/>
              </a:rPr>
              <a:t>서비스 소개·아키텍처·데모·향후 계획을 포함한 최종 발표 자료 완성</a:t>
            </a:r>
            <a:endParaRPr lang="en-US" altLang="ko-KR" sz="1000" dirty="0">
              <a:solidFill>
                <a:srgbClr val="9AA6BF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ct val="150000"/>
              </a:lnSpc>
            </a:pPr>
            <a:endParaRPr lang="en-US" sz="10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3B36497-3018-935D-159B-42FB2776FFBB}"/>
              </a:ext>
            </a:extLst>
          </p:cNvPr>
          <p:cNvSpPr/>
          <p:nvPr/>
        </p:nvSpPr>
        <p:spPr>
          <a:xfrm>
            <a:off x="8278390" y="1325880"/>
            <a:ext cx="3863035" cy="5463540"/>
          </a:xfrm>
          <a:prstGeom prst="roundRect">
            <a:avLst>
              <a:gd name="adj" fmla="val 2256"/>
            </a:avLst>
          </a:prstGeom>
          <a:solidFill>
            <a:srgbClr val="1B2A57"/>
          </a:solidFill>
          <a:ln/>
          <a:effectLst>
            <a:outerShdw blurRad="76200" dist="25400" dir="5400000" algn="bl" rotWithShape="0">
              <a:srgbClr val="1B2A57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2D725CC-BA14-FB9A-2BA2-4E9E578DA73C}"/>
              </a:ext>
            </a:extLst>
          </p:cNvPr>
          <p:cNvSpPr/>
          <p:nvPr/>
        </p:nvSpPr>
        <p:spPr>
          <a:xfrm>
            <a:off x="8454678" y="149047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방법  </a:t>
            </a:r>
            <a:r>
              <a:rPr lang="en-US" sz="10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METHODS</a:t>
            </a:r>
            <a:endParaRPr lang="en-US" sz="14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3222EAA-E7A2-EE25-B050-9900C2261C82}"/>
              </a:ext>
            </a:extLst>
          </p:cNvPr>
          <p:cNvSpPr/>
          <p:nvPr/>
        </p:nvSpPr>
        <p:spPr>
          <a:xfrm>
            <a:off x="8454678" y="1984248"/>
            <a:ext cx="34683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도구</a:t>
            </a:r>
            <a:endParaRPr lang="en-US" sz="11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3582729-1B5E-6E11-2AB2-5855F85E2CA3}"/>
              </a:ext>
            </a:extLst>
          </p:cNvPr>
          <p:cNvSpPr/>
          <p:nvPr/>
        </p:nvSpPr>
        <p:spPr>
          <a:xfrm>
            <a:off x="8454678" y="2240280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2000" lvl="0"/>
            <a:r>
              <a:rPr lang="ko-KR" altLang="ko-KR" sz="1000" b="1" dirty="0" err="1">
                <a:solidFill>
                  <a:schemeClr val="bg1"/>
                </a:solidFill>
              </a:rPr>
              <a:t>GitHub : 코드 형상관리 및 협업          구글 드라이브 : 회의록·자료 공유</a:t>
            </a:r>
          </a:p>
          <a:p>
            <a:pPr marL="72000" lvl="0"/>
            <a:r>
              <a:rPr lang="ko-KR" altLang="ko-KR" sz="1000" b="1" dirty="0" err="1">
                <a:solidFill>
                  <a:schemeClr val="bg1"/>
                </a:solidFill>
              </a:rPr>
              <a:t>Figma : UI/UX 디자인</a:t>
            </a:r>
          </a:p>
          <a:p>
            <a:pPr marL="72000" lvl="0"/>
            <a:r>
              <a:rPr lang="ko-KR" altLang="ko-KR" sz="1000" b="1" dirty="0" err="1">
                <a:solidFill>
                  <a:schemeClr val="bg1"/>
                </a:solidFill>
              </a:rPr>
              <a:t>Figma</a:t>
            </a:r>
            <a:r>
              <a:rPr lang="ko-KR" altLang="ko-KR" sz="1000" dirty="0">
                <a:solidFill>
                  <a:schemeClr val="bg1"/>
                </a:solidFill>
              </a:rPr>
              <a:t> : UI 설계</a:t>
            </a:r>
          </a:p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E83D4E1-6A84-234F-B654-E291FB1DFCF9}"/>
              </a:ext>
            </a:extLst>
          </p:cNvPr>
          <p:cNvSpPr/>
          <p:nvPr/>
        </p:nvSpPr>
        <p:spPr>
          <a:xfrm>
            <a:off x="8454678" y="2916936"/>
            <a:ext cx="3468319" cy="0"/>
          </a:xfrm>
          <a:prstGeom prst="line">
            <a:avLst/>
          </a:prstGeom>
          <a:noFill/>
          <a:ln w="9525">
            <a:solidFill>
              <a:srgbClr val="3343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E6F2BC3-95C8-5C60-76EF-E737FD7A99CD}"/>
              </a:ext>
            </a:extLst>
          </p:cNvPr>
          <p:cNvSpPr/>
          <p:nvPr/>
        </p:nvSpPr>
        <p:spPr>
          <a:xfrm>
            <a:off x="8454678" y="3026664"/>
            <a:ext cx="34683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소통 방식</a:t>
            </a:r>
            <a:endParaRPr lang="en-US" sz="11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468CDA1-F82D-CF02-4635-3986BF697A27}"/>
              </a:ext>
            </a:extLst>
          </p:cNvPr>
          <p:cNvSpPr/>
          <p:nvPr/>
        </p:nvSpPr>
        <p:spPr>
          <a:xfrm>
            <a:off x="8454678" y="3282696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2E2EFA07-8487-C559-51E4-A05EF1651C4F}"/>
              </a:ext>
            </a:extLst>
          </p:cNvPr>
          <p:cNvSpPr/>
          <p:nvPr/>
        </p:nvSpPr>
        <p:spPr>
          <a:xfrm>
            <a:off x="8454678" y="3959352"/>
            <a:ext cx="3468319" cy="0"/>
          </a:xfrm>
          <a:prstGeom prst="line">
            <a:avLst/>
          </a:prstGeom>
          <a:noFill/>
          <a:ln w="9525">
            <a:solidFill>
              <a:srgbClr val="3343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7F249EC-1A60-3212-83A2-B2A05D19BF1D}"/>
              </a:ext>
            </a:extLst>
          </p:cNvPr>
          <p:cNvSpPr/>
          <p:nvPr/>
        </p:nvSpPr>
        <p:spPr>
          <a:xfrm>
            <a:off x="8454678" y="4069080"/>
            <a:ext cx="34683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방식</a:t>
            </a:r>
            <a:endParaRPr lang="en-US" sz="11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7358C5B-4141-EEB4-D7A9-D405E195FCEB}"/>
              </a:ext>
            </a:extLst>
          </p:cNvPr>
          <p:cNvSpPr/>
          <p:nvPr/>
        </p:nvSpPr>
        <p:spPr>
          <a:xfrm>
            <a:off x="8454678" y="4325112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ko-KR" altLang="ko-KR" sz="1000" dirty="0">
                <a:solidFill>
                  <a:schemeClr val="bg1"/>
                </a:solidFill>
              </a:rPr>
              <a:t>기능 단위 브랜치 생성                     PR 후 코드 리뷰 진행</a:t>
            </a:r>
          </a:p>
          <a:p>
            <a:pPr lvl="0">
              <a:lnSpc>
                <a:spcPct val="150000"/>
              </a:lnSpc>
            </a:pPr>
            <a:r>
              <a:rPr lang="ko-KR" altLang="ko-KR" sz="1000" dirty="0">
                <a:solidFill>
                  <a:schemeClr val="bg1"/>
                </a:solidFill>
              </a:rPr>
              <a:t>코드 리뷰 승인 후 Merge</a:t>
            </a:r>
          </a:p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635295D-7D03-C1F0-0E34-E2A07FE9D0D3}"/>
              </a:ext>
            </a:extLst>
          </p:cNvPr>
          <p:cNvSpPr/>
          <p:nvPr/>
        </p:nvSpPr>
        <p:spPr>
          <a:xfrm>
            <a:off x="8454678" y="5001768"/>
            <a:ext cx="3468319" cy="0"/>
          </a:xfrm>
          <a:prstGeom prst="line">
            <a:avLst/>
          </a:prstGeom>
          <a:noFill/>
          <a:ln w="9525">
            <a:solidFill>
              <a:srgbClr val="3343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94078A3-89E0-3505-E4F4-005C0A1FE0DA}"/>
              </a:ext>
            </a:extLst>
          </p:cNvPr>
          <p:cNvSpPr/>
          <p:nvPr/>
        </p:nvSpPr>
        <p:spPr>
          <a:xfrm>
            <a:off x="8454678" y="5111496"/>
            <a:ext cx="34683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관리</a:t>
            </a:r>
            <a:endParaRPr lang="en-US" sz="11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DE1775CD-080F-5C54-D5AC-93E11B4D7659}"/>
              </a:ext>
            </a:extLst>
          </p:cNvPr>
          <p:cNvSpPr/>
          <p:nvPr/>
        </p:nvSpPr>
        <p:spPr>
          <a:xfrm>
            <a:off x="8454678" y="5367528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ko-KR" altLang="ko-KR" sz="1000" dirty="0">
                <a:solidFill>
                  <a:schemeClr val="bg1"/>
                </a:solidFill>
              </a:rPr>
              <a:t>테스트 체크리스트 기반 검증               버그는 이슈로 등록·추적</a:t>
            </a:r>
          </a:p>
          <a:p>
            <a:pPr lvl="0">
              <a:lnSpc>
                <a:spcPct val="150000"/>
              </a:lnSpc>
            </a:pPr>
            <a:r>
              <a:rPr lang="ko-KR" altLang="ko-KR" sz="1000" dirty="0">
                <a:solidFill>
                  <a:schemeClr val="bg1"/>
                </a:solidFill>
              </a:rPr>
              <a:t>치명적 결함 0건을 목표로 통합 테스트 수행</a:t>
            </a:r>
          </a:p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D2FD7E-EA61-483A-C73D-3DEB5A707826}"/>
              </a:ext>
            </a:extLst>
          </p:cNvPr>
          <p:cNvSpPr txBox="1"/>
          <p:nvPr/>
        </p:nvSpPr>
        <p:spPr>
          <a:xfrm>
            <a:off x="8515130" y="3264408"/>
            <a:ext cx="3414217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ko-KR" sz="1100" b="1" dirty="0">
                <a:solidFill>
                  <a:schemeClr val="bg1"/>
                </a:solidFill>
              </a:rPr>
              <a:t>데일리 스크럼 : 매일 오전 10:00, 15분간 진행 상황·블로커 공유</a:t>
            </a:r>
          </a:p>
          <a:p>
            <a:pPr lvl="0">
              <a:lnSpc>
                <a:spcPct val="150000"/>
              </a:lnSpc>
            </a:pPr>
            <a:r>
              <a:rPr lang="ko-KR" altLang="ko-KR" sz="1100" b="1" dirty="0">
                <a:solidFill>
                  <a:schemeClr val="bg1"/>
                </a:solidFill>
              </a:rPr>
              <a:t>주요 회의 내용은 정리 후 구글 드라이브에 전체 공유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4334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300">
                <a:solidFill>
                  <a:srgbClr val="2EC4B6"/>
                </a:solidFill>
                <a:latin typeface="맑은 고딕"/>
              </a:rPr>
              <a:t>MENTOR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B2A57"/>
                </a:solidFill>
                <a:latin typeface="맑은 고딕"/>
              </a:rPr>
              <a:t>멘토링 피드백 정리 ①  —  개발 방향 &amp; 차별화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589" y="1325880"/>
            <a:ext cx="5638800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7909" y="1554480"/>
            <a:ext cx="509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A57"/>
                </a:solidFill>
                <a:latin typeface="맑은 고딕"/>
              </a:rPr>
              <a:t>개발 방식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909" y="2011680"/>
            <a:ext cx="5090160" cy="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1000"/>
              </a:spcAft>
              <a:buFont typeface="Arial"/>
              <a:buChar char="·"/>
            </a:pPr>
            <a:r>
              <a:rPr sz="1300" b="1">
                <a:solidFill>
                  <a:srgbClr val="1B2A57"/>
                </a:solidFill>
                <a:latin typeface="맑은 고딕"/>
              </a:rPr>
              <a:t>AWS 환경구성  </a:t>
            </a:r>
            <a:r>
              <a:rPr sz="1300" b="0">
                <a:solidFill>
                  <a:srgbClr val="556075"/>
                </a:solidFill>
                <a:latin typeface="맑은 고딕"/>
              </a:rPr>
              <a:t>투 트랙(Two-Track)으로 운영 권유</a:t>
            </a:r>
          </a:p>
          <a:p>
            <a:pPr marL="182880" indent="-182880">
              <a:lnSpc>
                <a:spcPct val="115000"/>
              </a:lnSpc>
              <a:spcAft>
                <a:spcPts val="1000"/>
              </a:spcAft>
              <a:buFont typeface="Arial"/>
              <a:buChar char="·"/>
            </a:pPr>
            <a:r>
              <a:rPr sz="1300" b="1">
                <a:solidFill>
                  <a:srgbClr val="1B2A57"/>
                </a:solidFill>
                <a:latin typeface="맑은 고딕"/>
              </a:rPr>
              <a:t>바이브 코딩 제안  </a:t>
            </a:r>
            <a:r>
              <a:rPr sz="1300" b="0">
                <a:solidFill>
                  <a:srgbClr val="556075"/>
                </a:solidFill>
                <a:latin typeface="맑은 고딕"/>
              </a:rPr>
              <a:t>빠른 프로토타이핑 방식으로 개발 진행 고려</a:t>
            </a:r>
          </a:p>
          <a:p>
            <a:pPr marL="182880" indent="-182880">
              <a:lnSpc>
                <a:spcPct val="115000"/>
              </a:lnSpc>
              <a:spcAft>
                <a:spcPts val="1000"/>
              </a:spcAft>
              <a:buFont typeface="Arial"/>
              <a:buChar char="·"/>
            </a:pPr>
            <a:r>
              <a:rPr sz="1300" b="1">
                <a:solidFill>
                  <a:srgbClr val="1B2A57"/>
                </a:solidFill>
                <a:latin typeface="맑은 고딕"/>
              </a:rPr>
              <a:t>차별화가 핵심  </a:t>
            </a:r>
            <a:r>
              <a:rPr sz="1300" b="0">
                <a:solidFill>
                  <a:srgbClr val="556075"/>
                </a:solidFill>
                <a:latin typeface="맑은 고딕"/>
              </a:rPr>
              <a:t>이미 상용화된 프로그램과 비교했을 때 우리 서비스만의 차별점을 기획 단계에서 먼저 정의해야 함</a:t>
            </a:r>
          </a:p>
          <a:p>
            <a:pPr marL="182880" indent="-182880">
              <a:lnSpc>
                <a:spcPct val="115000"/>
              </a:lnSpc>
              <a:spcAft>
                <a:spcPts val="1000"/>
              </a:spcAft>
              <a:buFont typeface="Arial"/>
              <a:buChar char="·"/>
            </a:pPr>
            <a:r>
              <a:rPr sz="1300" b="1">
                <a:solidFill>
                  <a:srgbClr val="1B2A57"/>
                </a:solidFill>
                <a:latin typeface="맑은 고딕"/>
              </a:rPr>
              <a:t>핵심 질문  </a:t>
            </a:r>
            <a:r>
              <a:rPr sz="1300" b="0">
                <a:solidFill>
                  <a:srgbClr val="556075"/>
                </a:solidFill>
                <a:latin typeface="맑은 고딕"/>
              </a:rPr>
              <a:t>“우리가 왜 이 서비스를 선택하게 되었나?” — 차별화된 기능·장단점을 기획 단계에서 확정</a:t>
            </a:r>
          </a:p>
          <a:p>
            <a:pPr marL="182880" indent="-182880">
              <a:lnSpc>
                <a:spcPct val="115000"/>
              </a:lnSpc>
              <a:spcAft>
                <a:spcPts val="1000"/>
              </a:spcAft>
              <a:buFont typeface="Arial"/>
              <a:buChar char="·"/>
            </a:pPr>
            <a:r>
              <a:rPr sz="1300" b="1">
                <a:solidFill>
                  <a:srgbClr val="1B2A57"/>
                </a:solidFill>
                <a:latin typeface="맑은 고딕"/>
              </a:rPr>
              <a:t>차별화 예시  </a:t>
            </a:r>
            <a:r>
              <a:rPr sz="1300" b="0">
                <a:solidFill>
                  <a:srgbClr val="556075"/>
                </a:solidFill>
                <a:latin typeface="맑은 고딕"/>
              </a:rPr>
              <a:t>경쟁사가 모바일을 지원하지 않을 경우, 모바일 호환을 우리 서비스의 차별점으로 설정 가능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3369" y="1325880"/>
            <a:ext cx="5326380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7689" y="1554480"/>
            <a:ext cx="47777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A57"/>
                </a:solidFill>
                <a:latin typeface="맑은 고딕"/>
              </a:rPr>
              <a:t>경쟁 서비스 벤치마킹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7689" y="2011680"/>
            <a:ext cx="4777740" cy="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1000"/>
              </a:spcAft>
              <a:buFont typeface="Arial"/>
              <a:buChar char="·"/>
            </a:pPr>
            <a:r>
              <a:rPr sz="1300" b="1">
                <a:solidFill>
                  <a:srgbClr val="1B2A57"/>
                </a:solidFill>
                <a:latin typeface="맑은 고딕"/>
              </a:rPr>
              <a:t>분석 대상  </a:t>
            </a:r>
            <a:r>
              <a:rPr sz="1300" b="0">
                <a:solidFill>
                  <a:srgbClr val="556075"/>
                </a:solidFill>
                <a:latin typeface="맑은 고딕"/>
              </a:rPr>
              <a:t>soap.mediconsol.net 등 국내 유사 서비스 위주로 조사</a:t>
            </a:r>
          </a:p>
          <a:p>
            <a:pPr marL="182880" indent="-182880">
              <a:lnSpc>
                <a:spcPct val="115000"/>
              </a:lnSpc>
              <a:spcAft>
                <a:spcPts val="1000"/>
              </a:spcAft>
              <a:buFont typeface="Arial"/>
              <a:buChar char="·"/>
            </a:pPr>
            <a:r>
              <a:rPr sz="1300" b="1">
                <a:solidFill>
                  <a:srgbClr val="1B2A57"/>
                </a:solidFill>
                <a:latin typeface="맑은 고딕"/>
              </a:rPr>
              <a:t>조사 방법  </a:t>
            </a:r>
            <a:r>
              <a:rPr sz="1300" b="0">
                <a:solidFill>
                  <a:srgbClr val="556075"/>
                </a:solidFill>
                <a:latin typeface="맑은 고딕"/>
              </a:rPr>
              <a:t>서비스를 직접 사용해보고 장단점을 분석</a:t>
            </a:r>
          </a:p>
          <a:p>
            <a:pPr marL="182880" indent="-182880">
              <a:lnSpc>
                <a:spcPct val="115000"/>
              </a:lnSpc>
              <a:spcAft>
                <a:spcPts val="1000"/>
              </a:spcAft>
              <a:buFont typeface="Arial"/>
              <a:buChar char="·"/>
            </a:pPr>
            <a:r>
              <a:rPr sz="1300" b="1">
                <a:solidFill>
                  <a:srgbClr val="1B2A57"/>
                </a:solidFill>
                <a:latin typeface="맑은 고딕"/>
              </a:rPr>
              <a:t>보완 방향  </a:t>
            </a:r>
            <a:r>
              <a:rPr sz="1300" b="0">
                <a:solidFill>
                  <a:srgbClr val="556075"/>
                </a:solidFill>
                <a:latin typeface="맑은 고딕"/>
              </a:rPr>
              <a:t>분석한 장단점을 바탕으로 우리 서비스 기획에 보완 반영</a:t>
            </a:r>
          </a:p>
          <a:p>
            <a:pPr marL="182880" indent="-182880">
              <a:lnSpc>
                <a:spcPct val="115000"/>
              </a:lnSpc>
              <a:spcAft>
                <a:spcPts val="1000"/>
              </a:spcAft>
              <a:buFont typeface="Arial"/>
              <a:buChar char="·"/>
            </a:pPr>
            <a:r>
              <a:rPr sz="1300" b="1">
                <a:solidFill>
                  <a:srgbClr val="1B2A57"/>
                </a:solidFill>
                <a:latin typeface="맑은 고딕"/>
              </a:rPr>
              <a:t>팀 액션  </a:t>
            </a:r>
            <a:r>
              <a:rPr sz="1300" b="0">
                <a:solidFill>
                  <a:srgbClr val="556075"/>
                </a:solidFill>
                <a:latin typeface="맑은 고딕"/>
              </a:rPr>
              <a:t>팀원 각자 비슷한 서비스를 찾아 조사한 뒤 함께 공유하기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7689" y="5559360"/>
            <a:ext cx="477774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2EC4B6"/>
                </a:solidFill>
                <a:latin typeface="맑은 고딕"/>
              </a:rPr>
              <a:t>다음 액션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2EC4B6"/>
                </a:solidFill>
                <a:latin typeface="맑은 고딕"/>
              </a:rPr>
              <a:t>1) 경쟁 사이트 사용 후 장·단점 정리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2EC4B6"/>
                </a:solidFill>
                <a:latin typeface="맑은 고딕"/>
              </a:rPr>
              <a:t>2) 팀원들과 공유하기</a:t>
            </a: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1417A154-3FCB-D836-7222-043C798221ED}"/>
              </a:ext>
            </a:extLst>
          </p:cNvPr>
          <p:cNvSpPr/>
          <p:nvPr/>
        </p:nvSpPr>
        <p:spPr>
          <a:xfrm>
            <a:off x="10104120" y="384048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E078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91191BE8-CB86-50A2-8FDD-B4EC569CC783}"/>
              </a:ext>
            </a:extLst>
          </p:cNvPr>
          <p:cNvSpPr/>
          <p:nvPr/>
        </p:nvSpPr>
        <p:spPr>
          <a:xfrm>
            <a:off x="10104120" y="384048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작성용 양식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300">
                <a:solidFill>
                  <a:srgbClr val="2EC4B6"/>
                </a:solidFill>
                <a:latin typeface="맑은 고딕"/>
              </a:rPr>
              <a:t>SERVICE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B2A57"/>
                </a:solidFill>
                <a:latin typeface="맑은 고딕"/>
              </a:rPr>
              <a:t>멘토링 피드백 정리 ②  —  아키텍처 &amp; 설계 방향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002" y="1325880"/>
            <a:ext cx="3789000" cy="24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1602" y="1525880"/>
            <a:ext cx="33318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100">
                <a:solidFill>
                  <a:srgbClr val="2EC4B6"/>
                </a:solidFill>
                <a:latin typeface="맑은 고딕"/>
              </a:rPr>
              <a:t>서비스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1602" y="1925880"/>
            <a:ext cx="33318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멘토님 방향: 서비스 상용화(서비스 우선)를 목표로 설정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우선순위 정하기 · 목표 정하기 · 단계별 오픈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2502" y="1325880"/>
            <a:ext cx="3789000" cy="24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1102" y="1525880"/>
            <a:ext cx="33318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100">
                <a:solidFill>
                  <a:srgbClr val="2EC4B6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1102" y="1925880"/>
            <a:ext cx="33318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서버 환경 + 서빙 환경 구축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(API 콜) 서빙 흐름: 모델 구축 → 저장(파일) → 메모리 로딩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2002" y="1325880"/>
            <a:ext cx="3789000" cy="24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0602" y="1525880"/>
            <a:ext cx="33318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100">
                <a:solidFill>
                  <a:srgbClr val="2EC4B6"/>
                </a:solidFill>
                <a:latin typeface="맑은 고딕"/>
              </a:rPr>
              <a:t>화면 · 데이터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0602" y="1925880"/>
            <a:ext cx="33318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프론트엔드: 미정 / 백엔드 설계 진행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RDB 설계 · NoSQL 설계 · Vector DB 설계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3002" y="3966380"/>
            <a:ext cx="3789000" cy="24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602" y="4166380"/>
            <a:ext cx="33318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100">
                <a:solidFill>
                  <a:srgbClr val="2EC4B6"/>
                </a:solidFill>
                <a:latin typeface="맑은 고딕"/>
              </a:rPr>
              <a:t>모바일 대응 우선순위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602" y="4566380"/>
            <a:ext cx="33318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브라우저 기반 모바일 지원 여부 검토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하이브리드 앱 vs 반응형 웹으로 모바일 서비스 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2502" y="3966380"/>
            <a:ext cx="3789000" cy="24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1102" y="4166380"/>
            <a:ext cx="33318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100">
                <a:solidFill>
                  <a:srgbClr val="2EC4B6"/>
                </a:solidFill>
                <a:latin typeface="맑은 고딕"/>
              </a:rPr>
              <a:t>SOAP 데이터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1102" y="4566380"/>
            <a:ext cx="33318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SOAP 저장을 RDB에만 넣으면 키워드 검색만 가능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→ AI 검색 기능을 추가로 설계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2002" y="3966380"/>
            <a:ext cx="3789000" cy="24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0602" y="4166380"/>
            <a:ext cx="33318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100">
                <a:solidFill>
                  <a:srgbClr val="2EC4B6"/>
                </a:solidFill>
                <a:latin typeface="맑은 고딕"/>
              </a:rPr>
              <a:t>핵심 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0602" y="4566380"/>
            <a:ext cx="33318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무엇을 어떻게 설계할지 논의하는 과정 자체가 ‘아키텍처’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화면설계 · 프론트엔드 · 백엔드 순으로 구체화 예정</a:t>
            </a: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9C86FB5A-5747-0956-76B7-D920E7A6144E}"/>
              </a:ext>
            </a:extLst>
          </p:cNvPr>
          <p:cNvSpPr/>
          <p:nvPr/>
        </p:nvSpPr>
        <p:spPr>
          <a:xfrm>
            <a:off x="10104120" y="384048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E078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BE860CE9-A16F-3AC9-59D4-3512427D8C7B}"/>
              </a:ext>
            </a:extLst>
          </p:cNvPr>
          <p:cNvSpPr/>
          <p:nvPr/>
        </p:nvSpPr>
        <p:spPr>
          <a:xfrm>
            <a:off x="10104120" y="384048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작성용 양식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300">
                <a:solidFill>
                  <a:srgbClr val="2EC4B6"/>
                </a:solidFill>
                <a:latin typeface="맑은 고딕"/>
              </a:rPr>
              <a:t>PRE-WORK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B2A57"/>
                </a:solidFill>
                <a:latin typeface="맑은 고딕"/>
              </a:rPr>
              <a:t>사전작업 실행 단계  —  화자분리 → SOAP 저장까지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043" y="1900000"/>
            <a:ext cx="2260000" cy="3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11643" y="2200000"/>
            <a:ext cx="1802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EC4B6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1643" y="2800000"/>
            <a:ext cx="1802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A57"/>
                </a:solidFill>
                <a:latin typeface="맑은 고딕"/>
              </a:rPr>
              <a:t>화자분리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1643" y="3350000"/>
            <a:ext cx="1802800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의사 · 환자 음성 녹음(업로드 지원) → pyannote.audio(허깅페이스 기반)로 화자 분리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3043" y="1900000"/>
            <a:ext cx="2260000" cy="3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31643" y="2200000"/>
            <a:ext cx="1802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EC4B6"/>
                </a:solidFill>
                <a:latin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1643" y="2800000"/>
            <a:ext cx="1802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A57"/>
                </a:solidFill>
                <a:latin typeface="맑은 고딕"/>
              </a:rPr>
              <a:t>STT 변환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1643" y="3350000"/>
            <a:ext cx="1802800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분리된 음성 파일을 텍스트로 변환(STT)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23043" y="1900000"/>
            <a:ext cx="2260000" cy="3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51643" y="2200000"/>
            <a:ext cx="1802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EC4B6"/>
                </a:solidFill>
                <a:latin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1643" y="2800000"/>
            <a:ext cx="1802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A57"/>
                </a:solidFill>
                <a:latin typeface="맑은 고딕"/>
              </a:rPr>
              <a:t>SOAP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1643" y="3350000"/>
            <a:ext cx="1802800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파운데이션 모델 선정 및 파인튜닝 → 먼저 POC 진행 후 세부 계획 수립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3043" y="1900000"/>
            <a:ext cx="2260000" cy="3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71643" y="2200000"/>
            <a:ext cx="1802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EC4B6"/>
                </a:solidFill>
                <a:latin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643" y="2800000"/>
            <a:ext cx="1802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A57"/>
                </a:solidFill>
                <a:latin typeface="맑은 고딕"/>
              </a:rPr>
              <a:t>SOAP 저장 ·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643" y="3350000"/>
            <a:ext cx="1802800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RDB 저장만으로는 키워드 검색만 가능 → AI 검색 기능 추가 설계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63043" y="1900000"/>
            <a:ext cx="2260000" cy="3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91643" y="2200000"/>
            <a:ext cx="1802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EC4B6"/>
                </a:solidFill>
                <a:latin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1643" y="2800000"/>
            <a:ext cx="1802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A57"/>
                </a:solidFill>
                <a:latin typeface="맑은 고딕"/>
              </a:rPr>
              <a:t>프론트엔드 · 백엔드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1643" y="3350000"/>
            <a:ext cx="1802800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6075"/>
                </a:solidFill>
                <a:latin typeface="맑은 고딕"/>
              </a:rPr>
              <a:t>(핵심) 위 단계를 바탕으로 프론트엔드 · 백엔드 구현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50000"/>
            <a:ext cx="112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75"/>
                </a:solidFill>
                <a:latin typeface="맑은 고딕"/>
              </a:rPr>
              <a:t>※ 사전작업 완료 후 서버 환경 + 서빙 환경(모델 구축 → 저장 → 메모리 로딩) 구축 단계로 이어짐</a:t>
            </a: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5DE6E8EA-E750-F8D6-589C-C22BCD7D8207}"/>
              </a:ext>
            </a:extLst>
          </p:cNvPr>
          <p:cNvSpPr/>
          <p:nvPr/>
        </p:nvSpPr>
        <p:spPr>
          <a:xfrm>
            <a:off x="10104120" y="384048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E078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7495123B-C025-4EA2-37F8-C6479F7C0A7D}"/>
              </a:ext>
            </a:extLst>
          </p:cNvPr>
          <p:cNvSpPr/>
          <p:nvPr/>
        </p:nvSpPr>
        <p:spPr>
          <a:xfrm>
            <a:off x="10104120" y="384048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작성용 양식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1609</Words>
  <Application>Microsoft Office PowerPoint</Application>
  <PresentationFormat>와이드스크린</PresentationFormat>
  <Paragraphs>286</Paragraphs>
  <Slides>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정영 박</cp:lastModifiedBy>
  <cp:revision>111</cp:revision>
  <dcterms:created xsi:type="dcterms:W3CDTF">2026-07-29T04:39:18Z</dcterms:created>
  <dcterms:modified xsi:type="dcterms:W3CDTF">2026-07-31T06:05:01Z</dcterms:modified>
</cp:coreProperties>
</file>