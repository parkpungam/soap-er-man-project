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9" r:id="rId2"/>
    <p:sldId id="260" r:id="rId3"/>
    <p:sldId id="261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7FD6"/>
    <a:srgbClr val="FFFFFF"/>
    <a:srgbClr val="2EC4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987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TEAM IDENTITY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104120" y="384048"/>
            <a:ext cx="1536192" cy="402336"/>
          </a:xfrm>
          <a:prstGeom prst="roundRect">
            <a:avLst>
              <a:gd name="adj" fmla="val 50000"/>
            </a:avLst>
          </a:prstGeom>
          <a:solidFill>
            <a:srgbClr val="E078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0104120" y="384048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작성용 양식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SOAP-er Man(</a:t>
            </a:r>
            <a:r>
              <a:rPr lang="ko-KR" altLang="en-US" sz="40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소퍼맨</a:t>
            </a:r>
            <a:r>
              <a:rPr lang="en-US" altLang="ko-KR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592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 </a:t>
            </a:r>
            <a:r>
              <a:rPr lang="ko-KR" altLang="en-US" sz="2200" b="1" dirty="0">
                <a:solidFill>
                  <a:srgbClr val="8592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대화는 사람이</a:t>
            </a:r>
            <a:r>
              <a:rPr lang="en-US" altLang="ko-KR" sz="2200" b="1" dirty="0">
                <a:solidFill>
                  <a:srgbClr val="8592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2200" b="1" dirty="0">
                <a:solidFill>
                  <a:srgbClr val="8592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기록은 </a:t>
            </a:r>
            <a:r>
              <a:rPr lang="ko-KR" altLang="en-US" sz="2200" b="1" dirty="0" err="1">
                <a:solidFill>
                  <a:srgbClr val="8592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소퍼맨이</a:t>
            </a:r>
            <a:r>
              <a:rPr lang="en-US" altLang="ko-KR" sz="2200" b="1" dirty="0">
                <a:solidFill>
                  <a:srgbClr val="8592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r>
              <a:rPr lang="en-US" sz="2200" b="1" dirty="0">
                <a:solidFill>
                  <a:srgbClr val="8592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”</a:t>
            </a:r>
            <a:endParaRPr lang="en-US" sz="2200" b="1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1E3163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263640" y="233172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1E3163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14400" y="2715768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70432" y="256032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정체성 &amp; 의미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629400" y="2715768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885432" y="256032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비전 &amp; 프로젝트 목표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32688" y="3246120"/>
            <a:ext cx="461772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성장하는 팀</a:t>
            </a:r>
            <a:r>
              <a:rPr lang="en-US" sz="15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r>
              <a:rPr lang="ko-KR" altLang="en-US" sz="15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끊임없이 배우고 성장하는 팀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932688" y="4236720"/>
            <a:ext cx="461772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수평적 소통</a:t>
            </a:r>
            <a:r>
              <a:rPr lang="en-US" sz="15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r>
              <a:rPr lang="ko-KR" altLang="en-US" sz="13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팀원들의 의견을 존중하고 자유롭게 이야기하는 팀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932688" y="5227320"/>
            <a:ext cx="461772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본역할의 충실</a:t>
            </a:r>
            <a:r>
              <a:rPr lang="en-US" sz="15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r>
              <a:rPr lang="ko-KR" altLang="en-US" sz="13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각자 자기 맡은 역할에 최선을 다함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47688" y="3246120"/>
            <a:ext cx="461772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비전</a:t>
            </a:r>
            <a:r>
              <a:rPr lang="en-US" sz="15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r>
              <a:rPr lang="ko-KR" altLang="en-US" sz="15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의사와 환자의 진료대화를</a:t>
            </a:r>
            <a:r>
              <a:rPr lang="en-US" altLang="ko-KR" sz="13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SOAP</a:t>
            </a:r>
            <a:r>
              <a:rPr lang="ko-KR" altLang="en-US" sz="13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요약을 통해서 </a:t>
            </a:r>
            <a:endParaRPr lang="en-US" altLang="ko-KR" sz="1300" dirty="0">
              <a:solidFill>
                <a:schemeClr val="bg1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ko-KR" altLang="en-US" sz="13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의료진업무의 효율성 향상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647688" y="4236720"/>
            <a:ext cx="461772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성장 목표
</a:t>
            </a:r>
            <a:r>
              <a:rPr lang="ko-KR" altLang="en-US" sz="13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전원 역량 강화 및 포트폴리오 확보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47688" y="5227320"/>
            <a:ext cx="461772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 목표
</a:t>
            </a:r>
            <a:r>
              <a:rPr lang="ko-KR" altLang="en-US" sz="13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정확한 텍스트변환</a:t>
            </a:r>
            <a:r>
              <a:rPr lang="en-US" altLang="ko-KR" sz="13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(SST) 100%</a:t>
            </a:r>
            <a:r>
              <a:rPr lang="ko-KR" altLang="en-US" sz="13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r>
              <a:rPr lang="en-US" altLang="ko-KR" sz="13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3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및 </a:t>
            </a:r>
            <a:r>
              <a:rPr lang="en-US" altLang="ko-KR" sz="13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SOAP </a:t>
            </a:r>
            <a:r>
              <a:rPr lang="ko-KR" altLang="en-US" sz="13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성능 향상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R&amp;R 및 강점 분석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Team Profile &amp; Strengths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104120" y="384048"/>
            <a:ext cx="1536192" cy="402336"/>
          </a:xfrm>
          <a:prstGeom prst="roundRect">
            <a:avLst>
              <a:gd name="adj" fmla="val 50000"/>
            </a:avLst>
          </a:prstGeom>
          <a:solidFill>
            <a:srgbClr val="E078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104120" y="384048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작성용 양식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59964" y="1536938"/>
            <a:ext cx="350215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997708" y="1756394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997708" y="175639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</a:t>
            </a: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팀장</a:t>
            </a: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97324" y="1756394"/>
            <a:ext cx="1581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 err="1">
                <a:latin typeface="맑은 고딕" pitchFamily="34" charset="0"/>
                <a:ea typeface="맑은 고딕" pitchFamily="34" charset="-122"/>
              </a:rPr>
              <a:t>조요한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5996" y="2250170"/>
            <a:ext cx="304495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역할: PM</a:t>
            </a:r>
            <a:endParaRPr lang="en-US" sz="1150" dirty="0">
              <a:solidFill>
                <a:srgbClr val="2EC4B6"/>
              </a:solidFill>
            </a:endParaRPr>
          </a:p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강점: </a:t>
            </a:r>
            <a:r>
              <a:rPr lang="en-US" sz="1150" b="1" i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1150" dirty="0">
              <a:solidFill>
                <a:srgbClr val="2EC4B6"/>
              </a:solidFill>
            </a:endParaRPr>
          </a:p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협업 스타일: </a:t>
            </a:r>
            <a:r>
              <a:rPr lang="ko-KR" altLang="en-US" sz="1150" b="1" i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체크</a:t>
            </a:r>
            <a:r>
              <a:rPr lang="en-US" altLang="ko-KR" sz="1150" b="1" i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r>
              <a:rPr lang="ko-KR" altLang="en-US" sz="1150" b="1" i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br>
              <a:rPr lang="en-US" altLang="ko-KR" sz="1150" b="1" i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altLang="ko-KR" sz="1150" b="1" i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	</a:t>
            </a:r>
            <a:r>
              <a:rPr lang="ko-KR" altLang="en-US" sz="1150" b="1" i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팀원들 의사조율 </a:t>
            </a:r>
            <a:endParaRPr lang="en-US" sz="1150" dirty="0">
              <a:solidFill>
                <a:srgbClr val="2EC4B6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6582156" y="1536938"/>
            <a:ext cx="350215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819900" y="1756394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3F7FD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19900" y="175639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</a:t>
            </a: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</a:t>
            </a: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19516" y="1756394"/>
            <a:ext cx="1581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latin typeface="맑은 고딕" pitchFamily="34" charset="0"/>
                <a:ea typeface="맑은 고딕" pitchFamily="34" charset="-122"/>
              </a:rPr>
              <a:t>김민주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38188" y="2250170"/>
            <a:ext cx="304495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3F7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역할: </a:t>
            </a:r>
            <a:r>
              <a:rPr lang="ko-KR" altLang="en-US" sz="1150" b="1" i="1" dirty="0">
                <a:solidFill>
                  <a:srgbClr val="3F7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및 </a:t>
            </a:r>
            <a:r>
              <a:rPr lang="en-US" altLang="ko-KR" sz="1150" b="1" i="1" dirty="0">
                <a:solidFill>
                  <a:srgbClr val="3F7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</a:t>
            </a:r>
            <a:r>
              <a:rPr lang="ko-KR" altLang="en-US" sz="1150" b="1" i="1" dirty="0">
                <a:solidFill>
                  <a:srgbClr val="3F7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</a:t>
            </a:r>
            <a:endParaRPr lang="en-US" sz="1150" dirty="0">
              <a:solidFill>
                <a:srgbClr val="3F7FD6"/>
              </a:solidFill>
            </a:endParaRPr>
          </a:p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3F7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</a:t>
            </a:r>
            <a:r>
              <a:rPr lang="en-US" sz="1150" b="1" dirty="0" err="1">
                <a:solidFill>
                  <a:srgbClr val="3F7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</a:t>
            </a:r>
            <a:r>
              <a:rPr lang="en-US" sz="1150" b="1" dirty="0">
                <a:solidFill>
                  <a:srgbClr val="3F7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front end, </a:t>
            </a:r>
            <a:r>
              <a:rPr lang="en-US" sz="1150" b="1" i="1" dirty="0">
                <a:solidFill>
                  <a:srgbClr val="3F7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Figma, </a:t>
            </a:r>
            <a:r>
              <a:rPr lang="en-US" altLang="ko-KR" sz="1150" b="1" i="1" dirty="0">
                <a:solidFill>
                  <a:srgbClr val="3F7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CSS</a:t>
            </a:r>
            <a:endParaRPr lang="en-US" sz="1150" dirty="0">
              <a:solidFill>
                <a:srgbClr val="3F7FD6"/>
              </a:solidFill>
            </a:endParaRPr>
          </a:p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3F7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협업 스타일: </a:t>
            </a:r>
            <a:r>
              <a:rPr lang="ko-KR" altLang="en-US" sz="1150" b="1" i="1" dirty="0">
                <a:solidFill>
                  <a:srgbClr val="3F7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피드백 기반 협업</a:t>
            </a:r>
            <a:r>
              <a:rPr lang="en-US" altLang="ko-KR" sz="1150" b="1" i="1" dirty="0">
                <a:solidFill>
                  <a:srgbClr val="3F7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br>
              <a:rPr lang="en-US" altLang="ko-KR" sz="1150" b="1" i="1" dirty="0">
                <a:solidFill>
                  <a:srgbClr val="3F7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altLang="ko-KR" sz="1150" b="1" i="1" dirty="0">
                <a:solidFill>
                  <a:srgbClr val="3F7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	</a:t>
            </a:r>
            <a:r>
              <a:rPr lang="ko-KR" altLang="en-US" sz="1150" b="1" i="1" dirty="0">
                <a:solidFill>
                  <a:srgbClr val="3F7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중심 디자인</a:t>
            </a:r>
            <a:endParaRPr lang="en-US" sz="1150" dirty="0">
              <a:solidFill>
                <a:srgbClr val="3F7FD6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59964" y="4133834"/>
            <a:ext cx="350215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997708" y="435329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6C6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997708" y="435329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</a:t>
            </a: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</a:t>
            </a: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97324" y="4353290"/>
            <a:ext cx="1581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latin typeface="맑은 고딕" pitchFamily="34" charset="0"/>
                <a:ea typeface="맑은 고딕" pitchFamily="34" charset="-122"/>
              </a:rPr>
              <a:t>김보경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15996" y="4847066"/>
            <a:ext cx="304495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6C63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역할:  API </a:t>
            </a:r>
            <a:r>
              <a:rPr lang="ko-KR" altLang="en-US" sz="1150" b="1" dirty="0">
                <a:solidFill>
                  <a:srgbClr val="6C63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및 </a:t>
            </a:r>
            <a:r>
              <a:rPr lang="en-US" altLang="ko-KR" sz="1150" b="1" dirty="0">
                <a:solidFill>
                  <a:srgbClr val="6C63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</a:t>
            </a:r>
            <a:r>
              <a:rPr lang="ko-KR" altLang="en-US" sz="1150" b="1" dirty="0">
                <a:solidFill>
                  <a:srgbClr val="6C63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</a:t>
            </a:r>
            <a:endParaRPr lang="en-US" sz="1150" dirty="0"/>
          </a:p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6C63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강점:  Python, MySQL</a:t>
            </a:r>
            <a:endParaRPr lang="en-US" sz="1150" dirty="0"/>
          </a:p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6C63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협업 스타일: </a:t>
            </a:r>
            <a:r>
              <a:rPr lang="ko-KR" altLang="en-US" sz="1150" b="1" dirty="0">
                <a:solidFill>
                  <a:srgbClr val="6C63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팀원들의 강점 연결</a:t>
            </a:r>
            <a:endParaRPr lang="en-US" altLang="ko-KR" sz="1150" b="1" dirty="0">
              <a:solidFill>
                <a:srgbClr val="6C63C7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6C63C7"/>
                </a:solidFill>
                <a:latin typeface="맑은 고딕" pitchFamily="34" charset="0"/>
                <a:ea typeface="맑은 고딕" pitchFamily="34" charset="-122"/>
              </a:rPr>
              <a:t>	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601968" y="4133834"/>
            <a:ext cx="350215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839712" y="435329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839712" y="435329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</a:t>
            </a: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</a:t>
            </a: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]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39328" y="4353290"/>
            <a:ext cx="1581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latin typeface="맑은 고딕" pitchFamily="34" charset="0"/>
                <a:ea typeface="맑은 고딕" pitchFamily="34" charset="-122"/>
              </a:rPr>
              <a:t>박정영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4847066"/>
            <a:ext cx="304495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E08A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역할: </a:t>
            </a:r>
            <a:r>
              <a:rPr lang="ko-KR" altLang="en-US" sz="1150" b="1" dirty="0">
                <a:solidFill>
                  <a:srgbClr val="E08A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다루기</a:t>
            </a:r>
            <a:endParaRPr lang="en-US" sz="1150" dirty="0"/>
          </a:p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E08A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</a:t>
            </a:r>
            <a:r>
              <a:rPr lang="en-US" sz="1150" b="1" dirty="0" err="1">
                <a:solidFill>
                  <a:srgbClr val="E08A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</a:t>
            </a:r>
            <a:r>
              <a:rPr lang="en-US" sz="1150" b="1" dirty="0">
                <a:solidFill>
                  <a:srgbClr val="E08A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</a:t>
            </a:r>
            <a:r>
              <a:rPr lang="ko-KR" altLang="en-US" sz="1150" b="1" dirty="0">
                <a:solidFill>
                  <a:srgbClr val="E08A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데이터수집</a:t>
            </a:r>
            <a:r>
              <a:rPr lang="en-US" altLang="ko-KR" sz="1150" b="1" dirty="0">
                <a:solidFill>
                  <a:srgbClr val="E08A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150" b="1" dirty="0" err="1">
                <a:solidFill>
                  <a:srgbClr val="E08A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데이터전처리</a:t>
            </a:r>
            <a:endParaRPr lang="en-US" sz="1150" dirty="0"/>
          </a:p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E08A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협업 스타일: </a:t>
            </a:r>
            <a:r>
              <a:rPr lang="ko-KR" altLang="en-US" sz="1150" b="1" dirty="0">
                <a:solidFill>
                  <a:srgbClr val="E08A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의사결정 조율</a:t>
            </a:r>
            <a:endParaRPr lang="en-US" altLang="ko-KR" sz="1150" b="1" dirty="0">
              <a:solidFill>
                <a:srgbClr val="E08A3C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altLang="ko-KR" sz="1150" b="1" dirty="0">
                <a:solidFill>
                  <a:srgbClr val="E08A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	</a:t>
            </a:r>
            <a:r>
              <a:rPr lang="ko-KR" altLang="en-US" sz="1150" b="1" dirty="0">
                <a:solidFill>
                  <a:srgbClr val="E08A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피드백 수용 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 기반 협업 구조 &amp; 그라운드 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Collaboration Process &amp; Ground Rules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104120" y="384048"/>
            <a:ext cx="1536192" cy="402336"/>
          </a:xfrm>
          <a:prstGeom prst="roundRect">
            <a:avLst>
              <a:gd name="adj" fmla="val 50000"/>
            </a:avLst>
          </a:prstGeom>
          <a:solidFill>
            <a:srgbClr val="E078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104120" y="384048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작성용 양식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 기반 협업 프로세스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943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88900" dist="25400" dir="5400000" algn="bl" rotWithShape="0">
              <a:srgbClr val="9AA6BF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04672" y="2167128"/>
            <a:ext cx="603504" cy="603504"/>
          </a:xfrm>
          <a:prstGeom prst="ellipse">
            <a:avLst/>
          </a:prstGeom>
          <a:solidFill>
            <a:srgbClr val="1B2A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00200" y="194767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· 기획/설계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23317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PM(</a:t>
            </a:r>
            <a:r>
              <a:rPr lang="ko-KR" altLang="en-US" sz="13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기획력</a:t>
            </a:r>
            <a:r>
              <a:rPr lang="en-US" altLang="ko-KR" sz="13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r>
              <a:rPr lang="en-US" sz="13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+UI(</a:t>
            </a:r>
            <a:r>
              <a:rPr lang="ko-KR" altLang="en-US" sz="13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</a:t>
            </a:r>
            <a:r>
              <a:rPr lang="en-US" altLang="ko-KR" sz="13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</a:t>
            </a:r>
            <a:r>
              <a:rPr lang="en-US" sz="13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r>
              <a:rPr lang="ko-KR" altLang="en-US" sz="13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정의 및 화면설계</a:t>
            </a:r>
            <a:r>
              <a:rPr lang="en-US" sz="13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55848"/>
            <a:ext cx="5943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88900" dist="25400" dir="5400000" algn="bl" rotWithShape="0">
              <a:srgbClr val="9AA6BF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04672" y="3739896"/>
            <a:ext cx="603504" cy="603504"/>
          </a:xfrm>
          <a:prstGeom prst="ellipse">
            <a:avLst/>
          </a:prstGeom>
          <a:solidFill>
            <a:srgbClr val="1B2A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04672" y="3739896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00200" y="35204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 · 개발/구현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00200" y="3904488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5000"/>
              </a:lnSpc>
            </a:pPr>
            <a:r>
              <a:rPr lang="ko-KR" altLang="ko-KR" sz="1300" b="1" dirty="0"/>
              <a:t>AI(LLM) + </a:t>
            </a:r>
            <a:r>
              <a:rPr lang="ko-KR" altLang="ko-KR" sz="1300" b="1" dirty="0" err="1"/>
              <a:t>Backend</a:t>
            </a:r>
            <a:r>
              <a:rPr lang="ko-KR" altLang="ko-KR" sz="1300" b="1" dirty="0"/>
              <a:t> + </a:t>
            </a:r>
            <a:r>
              <a:rPr lang="ko-KR" altLang="ko-KR" sz="1300" b="1" dirty="0" err="1"/>
              <a:t>Frontend</a:t>
            </a:r>
            <a:r>
              <a:rPr lang="ko-KR" altLang="ko-KR" sz="1300" b="1" dirty="0"/>
              <a:t> → 기능 구현</a:t>
            </a:r>
            <a:endParaRPr lang="en-US" sz="1300" b="1" dirty="0"/>
          </a:p>
        </p:txBody>
      </p:sp>
      <p:sp>
        <p:nvSpPr>
          <p:cNvPr id="17" name="Shape 15"/>
          <p:cNvSpPr/>
          <p:nvPr/>
        </p:nvSpPr>
        <p:spPr>
          <a:xfrm>
            <a:off x="548640" y="4928616"/>
            <a:ext cx="5943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88900" dist="25400" dir="5400000" algn="bl" rotWithShape="0">
              <a:srgbClr val="9AA6BF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04672" y="5312664"/>
            <a:ext cx="603504" cy="603504"/>
          </a:xfrm>
          <a:prstGeom prst="ellipse">
            <a:avLst/>
          </a:prstGeom>
          <a:solidFill>
            <a:srgbClr val="1B2A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04672" y="531266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00200" y="509320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1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· 검증/배포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00200" y="5477256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5000"/>
              </a:lnSpc>
            </a:pPr>
            <a:r>
              <a:rPr lang="ko-KR" altLang="ko-KR" sz="1300" b="1" dirty="0"/>
              <a:t>PM + QA + 전체 팀원 → 테스트 및 발표 준비</a:t>
            </a:r>
            <a:endParaRPr lang="en-US" sz="1300" b="1" dirty="0"/>
          </a:p>
        </p:txBody>
      </p:sp>
      <p:sp>
        <p:nvSpPr>
          <p:cNvPr id="22" name="Shape 20"/>
          <p:cNvSpPr/>
          <p:nvPr/>
        </p:nvSpPr>
        <p:spPr>
          <a:xfrm>
            <a:off x="6720840" y="1325880"/>
            <a:ext cx="4892040" cy="4974336"/>
          </a:xfrm>
          <a:prstGeom prst="roundRect">
            <a:avLst>
              <a:gd name="adj" fmla="val 1869"/>
            </a:avLst>
          </a:prstGeom>
          <a:solidFill>
            <a:srgbClr val="1B2A57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086600" y="1783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342632" y="161848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그라운드 룰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104888" y="2180188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379208" y="2070460"/>
            <a:ext cx="3931920" cy="9006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 규칙
</a:t>
            </a:r>
            <a:r>
              <a:rPr lang="en-US" sz="12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r>
              <a:rPr lang="ko-KR" altLang="en-US" sz="12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데일리 스크럼</a:t>
            </a:r>
            <a:endParaRPr lang="en-US" altLang="ko-KR" sz="1250" b="1" dirty="0">
              <a:solidFill>
                <a:schemeClr val="bg1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lang="en-US" sz="12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</a:rPr>
              <a:t>- </a:t>
            </a:r>
            <a:r>
              <a:rPr lang="ko-KR" altLang="en-US" sz="12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</a:rPr>
              <a:t>지각 및 결석일시 사전에 고지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104888" y="3173247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379208" y="3063519"/>
            <a:ext cx="3931920" cy="8133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문서화 규칙
</a:t>
            </a:r>
            <a:r>
              <a:rPr lang="en-US" sz="1250" b="1" i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</a:t>
            </a:r>
            <a:r>
              <a:rPr lang="ko-KR" altLang="en-US" sz="12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구글 드라이브 공유 문서함에 회의 내용 정리</a:t>
            </a:r>
            <a:endParaRPr lang="en-US" altLang="ko-KR" sz="1250" b="1" dirty="0">
              <a:solidFill>
                <a:schemeClr val="bg1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altLang="ko-KR" sz="12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</a:rPr>
              <a:t>- </a:t>
            </a:r>
            <a:r>
              <a:rPr lang="ko-KR" altLang="en-US" sz="12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</a:rPr>
              <a:t>코드 관리는 </a:t>
            </a:r>
            <a:r>
              <a:rPr lang="ko-KR" altLang="en-US" sz="1250" b="1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</a:rPr>
              <a:t>깃허브에</a:t>
            </a:r>
            <a:r>
              <a:rPr lang="ko-KR" altLang="en-US" sz="12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</a:rPr>
              <a:t> 브런치 전략으로 사용</a:t>
            </a:r>
            <a:endParaRPr lang="en-US" altLang="ko-KR" sz="1250" b="1" dirty="0">
              <a:solidFill>
                <a:schemeClr val="bg1"/>
              </a:solidFill>
              <a:latin typeface="맑은 고딕" pitchFamily="34" charset="0"/>
              <a:ea typeface="맑은 고딕" pitchFamily="34" charset="-122"/>
            </a:endParaRP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endParaRPr lang="en-US" altLang="ko-KR" sz="1250" b="1" dirty="0">
              <a:solidFill>
                <a:schemeClr val="bg1"/>
              </a:solidFill>
              <a:latin typeface="맑은 고딕" pitchFamily="34" charset="0"/>
              <a:ea typeface="맑은 고딕" pitchFamily="34" charset="-122"/>
            </a:endParaRPr>
          </a:p>
          <a:p>
            <a:pPr marL="285750" indent="-285750" algn="l">
              <a:lnSpc>
                <a:spcPct val="108000"/>
              </a:lnSpc>
              <a:spcAft>
                <a:spcPts val="200"/>
              </a:spcAft>
              <a:buFontTx/>
              <a:buChar char="-"/>
            </a:pPr>
            <a:endParaRPr lang="ko-KR" altLang="en-US" sz="1250" b="1" dirty="0">
              <a:solidFill>
                <a:schemeClr val="bg1"/>
              </a:solidFill>
              <a:latin typeface="맑은 고딕" pitchFamily="34" charset="0"/>
              <a:ea typeface="맑은 고딕" pitchFamily="34" charset="-122"/>
            </a:endParaRPr>
          </a:p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104888" y="4119651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379208" y="4009923"/>
            <a:ext cx="3931920" cy="9006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50" b="1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피드백</a:t>
            </a:r>
            <a:r>
              <a:rPr lang="en-US" sz="14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b="1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</a:t>
            </a:r>
            <a:endParaRPr lang="en-US" sz="1450" b="1" dirty="0">
              <a:solidFill>
                <a:schemeClr val="bg1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285750" indent="-285750" algn="l">
              <a:lnSpc>
                <a:spcPct val="108000"/>
              </a:lnSpc>
              <a:spcAft>
                <a:spcPts val="200"/>
              </a:spcAft>
              <a:buFontTx/>
              <a:buChar char="-"/>
            </a:pPr>
            <a:r>
              <a:rPr lang="ko-KR" altLang="en-US" sz="12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</a:rPr>
              <a:t>비판보다는 서로를 존중하는 방향의 피드백</a:t>
            </a:r>
            <a:endParaRPr lang="en-US" altLang="ko-KR" sz="1250" b="1" dirty="0">
              <a:solidFill>
                <a:schemeClr val="bg1"/>
              </a:solidFill>
              <a:latin typeface="맑은 고딕" pitchFamily="34" charset="0"/>
              <a:ea typeface="맑은 고딕" pitchFamily="34" charset="-122"/>
            </a:endParaRPr>
          </a:p>
          <a:p>
            <a:pPr marL="285750" indent="-285750" algn="l">
              <a:lnSpc>
                <a:spcPct val="108000"/>
              </a:lnSpc>
              <a:spcAft>
                <a:spcPts val="200"/>
              </a:spcAft>
              <a:buFontTx/>
              <a:buChar char="-"/>
            </a:pPr>
            <a:r>
              <a:rPr lang="ko-KR" altLang="en-US" sz="12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</a:rPr>
              <a:t>궁금한점은 바로 질문하기</a:t>
            </a:r>
            <a:endParaRPr lang="en-US" altLang="ko-KR" sz="1250" b="1" dirty="0">
              <a:solidFill>
                <a:schemeClr val="bg1"/>
              </a:solidFill>
              <a:latin typeface="맑은 고딕" pitchFamily="34" charset="0"/>
              <a:ea typeface="맑은 고딕" pitchFamily="34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104888" y="5066055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379208" y="4956327"/>
            <a:ext cx="3931920" cy="9006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 규칙
</a:t>
            </a:r>
            <a:r>
              <a:rPr lang="en-US" sz="12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</a:t>
            </a:r>
            <a:r>
              <a:rPr lang="ko-KR" altLang="en-US" sz="12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개인사정 발생 시 최대한 빠르게 전달</a:t>
            </a:r>
            <a:endParaRPr lang="en-US" altLang="ko-KR" sz="1250" b="1" dirty="0">
              <a:solidFill>
                <a:schemeClr val="bg1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</a:rPr>
              <a:t>- </a:t>
            </a:r>
            <a:r>
              <a:rPr lang="ko-KR" altLang="en-US" sz="12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</a:rPr>
              <a:t>일정 지연 시 팀원에게 공유하기</a:t>
            </a:r>
            <a:endParaRPr lang="en-US" sz="12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341</Words>
  <Application>Microsoft Office PowerPoint</Application>
  <PresentationFormat>와이드스크린</PresentationFormat>
  <Paragraphs>65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정영 박</cp:lastModifiedBy>
  <cp:revision>8</cp:revision>
  <dcterms:created xsi:type="dcterms:W3CDTF">2026-07-22T01:16:30Z</dcterms:created>
  <dcterms:modified xsi:type="dcterms:W3CDTF">2026-07-30T07:32:37Z</dcterms:modified>
</cp:coreProperties>
</file>